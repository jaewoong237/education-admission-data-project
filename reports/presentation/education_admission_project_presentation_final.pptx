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3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A604-7935-89E4-2BD8-EDF0D7490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214AB-7810-87EC-1B68-425B77908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A6586-30B8-EA3B-2CF9-DB1B7968E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0265C-00E7-BF6E-A085-A8FE7D511C3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229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7F9A5D3-37FA-4BA6-8F9D-9A2717306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shape-q27uyw">
            <a:extLst>
              <a:ext uri="{FF2B5EF4-FFF2-40B4-BE49-F238E27FC236}">
                <a16:creationId xmlns:a16="http://schemas.microsoft.com/office/drawing/2014/main" id="{F7BED6AB-01B7-48A4-8955-579BFB98E7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cm0rx1">
            <a:extLst>
              <a:ext uri="{FF2B5EF4-FFF2-40B4-BE49-F238E27FC236}">
                <a16:creationId xmlns:a16="http://schemas.microsoft.com/office/drawing/2014/main" id="{5DAFE4E9-B62F-47A1-89B3-129F16B4BD0E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9530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3" name="text-5gws6n">
            <a:extLst>
              <a:ext uri="{FF2B5EF4-FFF2-40B4-BE49-F238E27FC236}">
                <a16:creationId xmlns:a16="http://schemas.microsoft.com/office/drawing/2014/main" id="{AC1DF6AD-CED7-48CB-AE47-EC5A0AF8A4D9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9620250" cy="285750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4" name="rule-58-507">
            <a:extLst>
              <a:ext uri="{FF2B5EF4-FFF2-40B4-BE49-F238E27FC236}">
                <a16:creationId xmlns:a16="http://schemas.microsoft.com/office/drawing/2014/main" id="{23DC11DB-4FC8-49E2-858D-7BB2A6947199}"/>
              </a:ext>
            </a:extLst>
          </p:cNvPr>
          <p:cNvSpPr>
            <a:spLocks noGrp="1"/>
          </p:cNvSpPr>
          <p:nvPr/>
        </p:nvSpPr>
        <p:spPr>
          <a:xfrm>
            <a:off x="552450" y="4829175"/>
            <a:ext cx="10668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-qgy9pj"/>
          <p:cNvSpPr>
            <a:spLocks noGrp="1"/>
          </p:cNvSpPr>
          <p:nvPr/>
        </p:nvSpPr>
        <p:spPr>
          <a:xfrm>
            <a:off x="641706" y="5143500"/>
            <a:ext cx="72390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lvl="0" algn="l">
              <a:defRPr sz="1650" b="0">
                <a:solidFill>
                  <a:srgbClr val="5E6673"/>
                </a:solidFill>
                <a:latin typeface="맑은 고딕"/>
                <a:ea typeface="맑은 고딕"/>
                <a:cs typeface="맑은 고딕"/>
              </a:defRPr>
            </a:pPr>
            <a:r>
              <a:rPr>
                <a:latin typeface="티웨이_날다"/>
                <a:ea typeface="티웨이_날다"/>
              </a:rPr>
              <a:t>2023–2025 · 22개 대학 · 66개 대학-연도 관측치</a:t>
            </a:r>
          </a:p>
        </p:txBody>
      </p:sp>
      <p:sp>
        <p:nvSpPr>
          <p:cNvPr id="6" name="text-zw41lh">
            <a:extLst>
              <a:ext uri="{FF2B5EF4-FFF2-40B4-BE49-F238E27FC236}">
                <a16:creationId xmlns:a16="http://schemas.microsoft.com/office/drawing/2014/main" id="{A65EB2C5-C89C-427E-A829-3D07CB1582F6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6858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endParaRPr sz="16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50E4D-2B5B-DA2A-30DE-C170FC5F9C28}"/>
              </a:ext>
            </a:extLst>
          </p:cNvPr>
          <p:cNvSpPr txBox="1"/>
          <p:nvPr/>
        </p:nvSpPr>
        <p:spPr>
          <a:xfrm>
            <a:off x="552450" y="2410242"/>
            <a:ext cx="791496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교육 빅데이터를 활용한
</a:t>
            </a:r>
            <a:r>
              <a:rPr lang="ko-KR" altLang="en-US" sz="44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입학성과 분석 </a:t>
            </a:r>
            <a:r>
              <a:rPr lang="ko-KR" altLang="en-US" sz="4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및
</a:t>
            </a:r>
            <a:r>
              <a:rPr lang="ko-KR" altLang="en-US" sz="44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입시 전략 인사이트 </a:t>
            </a:r>
            <a:r>
              <a:rPr lang="ko-KR" altLang="en-US" sz="4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도출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994014-E8A1-5F78-8DFB-E52D90E4EFC8}"/>
              </a:ext>
            </a:extLst>
          </p:cNvPr>
          <p:cNvSpPr txBox="1"/>
          <p:nvPr/>
        </p:nvSpPr>
        <p:spPr>
          <a:xfrm>
            <a:off x="552450" y="6048375"/>
            <a:ext cx="4528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부산외국어대학교 </a:t>
            </a:r>
            <a:r>
              <a:rPr lang="ko-KR" altLang="en-US"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빅데이터전공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4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학년 주재웅</a:t>
            </a:r>
          </a:p>
        </p:txBody>
      </p:sp>
    </p:spTree>
    <p:extLst>
      <p:ext uri="{BB962C8B-B14F-4D97-AF65-F5344CB8AC3E}">
        <p14:creationId xmlns:p14="http://schemas.microsoft.com/office/powerpoint/2010/main" val="174248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8wc195">
            <a:extLst>
              <a:ext uri="{FF2B5EF4-FFF2-40B4-BE49-F238E27FC236}">
                <a16:creationId xmlns:a16="http://schemas.microsoft.com/office/drawing/2014/main" id="{5ABC9875-6930-4BCE-A30B-3B2DF5956581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3" name="rule-42-136">
            <a:extLst>
              <a:ext uri="{FF2B5EF4-FFF2-40B4-BE49-F238E27FC236}">
                <a16:creationId xmlns:a16="http://schemas.microsoft.com/office/drawing/2014/main" id="{955752F5-DEA8-47DC-B3F0-1CB8D5CA606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dm0h12">
            <a:extLst>
              <a:ext uri="{FF2B5EF4-FFF2-40B4-BE49-F238E27FC236}">
                <a16:creationId xmlns:a16="http://schemas.microsoft.com/office/drawing/2014/main" id="{87721D8E-4E8B-4FF4-B032-9306C862DBE9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6" name="text-3varxf">
            <a:extLst>
              <a:ext uri="{FF2B5EF4-FFF2-40B4-BE49-F238E27FC236}">
                <a16:creationId xmlns:a16="http://schemas.microsoft.com/office/drawing/2014/main" id="{FCC2DBFC-24D9-4057-822E-A29690D0A18C}"/>
              </a:ext>
            </a:extLst>
          </p:cNvPr>
          <p:cNvSpPr>
            <a:spLocks noGrp="1"/>
          </p:cNvSpPr>
          <p:nvPr/>
        </p:nvSpPr>
        <p:spPr>
          <a:xfrm>
            <a:off x="562048" y="2130527"/>
            <a:ext cx="3990975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7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입시제도와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교육환경이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빠르게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변하면서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7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경험만으로는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학생들의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진학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고민을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충분히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7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지원하기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어렵다는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문제의식에서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출발했다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</a:t>
            </a:r>
          </a:p>
        </p:txBody>
      </p:sp>
      <p:sp>
        <p:nvSpPr>
          <p:cNvPr id="7" name="shape-4pshr1">
            <a:extLst>
              <a:ext uri="{FF2B5EF4-FFF2-40B4-BE49-F238E27FC236}">
                <a16:creationId xmlns:a16="http://schemas.microsoft.com/office/drawing/2014/main" id="{8EE5CA00-ABFD-40EA-9D40-B310A8AE6742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4000500" cy="175260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-t66sfn">
            <a:extLst>
              <a:ext uri="{FF2B5EF4-FFF2-40B4-BE49-F238E27FC236}">
                <a16:creationId xmlns:a16="http://schemas.microsoft.com/office/drawing/2014/main" id="{6EA81690-80C7-45D3-8B76-5C79CF226CDF}"/>
              </a:ext>
            </a:extLst>
          </p:cNvPr>
          <p:cNvSpPr>
            <a:spLocks noGrp="1"/>
          </p:cNvSpPr>
          <p:nvPr/>
        </p:nvSpPr>
        <p:spPr>
          <a:xfrm>
            <a:off x="669205" y="4462924"/>
            <a:ext cx="3333750" cy="944819"/>
          </a:xfrm>
          <a:prstGeom prst="rect">
            <a:avLst/>
          </a:prstGeom>
        </p:spPr>
        <p:txBody>
          <a:bodyPr wrap="square" lIns="0" tIns="0" rIns="0" bIns="0" anchor="t">
            <a:normAutofit fontScale="96327"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공공데이터로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입학성과를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진단하고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대학별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입시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전략과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학생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맞춤형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진학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설계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연구로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확장할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수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있는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분석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기반을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마련한다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</a:t>
            </a:r>
          </a:p>
        </p:txBody>
      </p:sp>
      <p:sp>
        <p:nvSpPr>
          <p:cNvPr id="10" name="rule-510-176">
            <a:extLst>
              <a:ext uri="{FF2B5EF4-FFF2-40B4-BE49-F238E27FC236}">
                <a16:creationId xmlns:a16="http://schemas.microsoft.com/office/drawing/2014/main" id="{1E86A8EE-CB89-489B-AB81-5AB625862490}"/>
              </a:ext>
            </a:extLst>
          </p:cNvPr>
          <p:cNvSpPr>
            <a:spLocks noGrp="1"/>
          </p:cNvSpPr>
          <p:nvPr/>
        </p:nvSpPr>
        <p:spPr>
          <a:xfrm>
            <a:off x="4857750" y="1676400"/>
            <a:ext cx="9525" cy="40957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-awn21w">
            <a:extLst>
              <a:ext uri="{FF2B5EF4-FFF2-40B4-BE49-F238E27FC236}">
                <a16:creationId xmlns:a16="http://schemas.microsoft.com/office/drawing/2014/main" id="{420B69F9-6F32-424A-AFE7-9F0692B3A553}"/>
              </a:ext>
            </a:extLst>
          </p:cNvPr>
          <p:cNvSpPr>
            <a:spLocks noGrp="1"/>
          </p:cNvSpPr>
          <p:nvPr/>
        </p:nvSpPr>
        <p:spPr>
          <a:xfrm>
            <a:off x="5276850" y="22098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01</a:t>
            </a:r>
          </a:p>
        </p:txBody>
      </p:sp>
      <p:sp>
        <p:nvSpPr>
          <p:cNvPr id="13" name="text-9t8coa">
            <a:extLst>
              <a:ext uri="{FF2B5EF4-FFF2-40B4-BE49-F238E27FC236}">
                <a16:creationId xmlns:a16="http://schemas.microsoft.com/office/drawing/2014/main" id="{4E37BFEC-5509-47F6-9EF0-C212AF57A14A}"/>
              </a:ext>
            </a:extLst>
          </p:cNvPr>
          <p:cNvSpPr>
            <a:spLocks noGrp="1"/>
          </p:cNvSpPr>
          <p:nvPr/>
        </p:nvSpPr>
        <p:spPr>
          <a:xfrm>
            <a:off x="5905500" y="2190750"/>
            <a:ext cx="55721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학령인구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고교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진학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지표와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충원율의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관계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4" name="rule-554-280">
            <a:extLst>
              <a:ext uri="{FF2B5EF4-FFF2-40B4-BE49-F238E27FC236}">
                <a16:creationId xmlns:a16="http://schemas.microsoft.com/office/drawing/2014/main" id="{227D05B6-DEB3-4B78-B742-6C96510E725B}"/>
              </a:ext>
            </a:extLst>
          </p:cNvPr>
          <p:cNvSpPr>
            <a:spLocks noGrp="1"/>
          </p:cNvSpPr>
          <p:nvPr/>
        </p:nvSpPr>
        <p:spPr>
          <a:xfrm>
            <a:off x="5276850" y="2667000"/>
            <a:ext cx="62007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b0igg5">
            <a:extLst>
              <a:ext uri="{FF2B5EF4-FFF2-40B4-BE49-F238E27FC236}">
                <a16:creationId xmlns:a16="http://schemas.microsoft.com/office/drawing/2014/main" id="{4CFE8511-9547-4E72-A791-16391BEA3100}"/>
              </a:ext>
            </a:extLst>
          </p:cNvPr>
          <p:cNvSpPr>
            <a:spLocks noGrp="1"/>
          </p:cNvSpPr>
          <p:nvPr/>
        </p:nvSpPr>
        <p:spPr>
          <a:xfrm>
            <a:off x="5276850" y="29337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02</a:t>
            </a:r>
          </a:p>
        </p:txBody>
      </p:sp>
      <p:sp>
        <p:nvSpPr>
          <p:cNvPr id="17" name="rule-554-356">
            <a:extLst>
              <a:ext uri="{FF2B5EF4-FFF2-40B4-BE49-F238E27FC236}">
                <a16:creationId xmlns:a16="http://schemas.microsoft.com/office/drawing/2014/main" id="{E811E7D9-0115-49A8-9FFE-EC64809EE622}"/>
              </a:ext>
            </a:extLst>
          </p:cNvPr>
          <p:cNvSpPr>
            <a:spLocks noGrp="1"/>
          </p:cNvSpPr>
          <p:nvPr/>
        </p:nvSpPr>
        <p:spPr>
          <a:xfrm>
            <a:off x="5276850" y="3390900"/>
            <a:ext cx="62007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9ut6zx">
            <a:extLst>
              <a:ext uri="{FF2B5EF4-FFF2-40B4-BE49-F238E27FC236}">
                <a16:creationId xmlns:a16="http://schemas.microsoft.com/office/drawing/2014/main" id="{BC6C549E-14A0-4A24-91F6-5F5D697012D7}"/>
              </a:ext>
            </a:extLst>
          </p:cNvPr>
          <p:cNvSpPr>
            <a:spLocks noGrp="1"/>
          </p:cNvSpPr>
          <p:nvPr/>
        </p:nvSpPr>
        <p:spPr>
          <a:xfrm>
            <a:off x="5276850" y="36576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03</a:t>
            </a:r>
          </a:p>
        </p:txBody>
      </p:sp>
      <p:sp>
        <p:nvSpPr>
          <p:cNvPr id="19" name="text-7n6e6d">
            <a:extLst>
              <a:ext uri="{FF2B5EF4-FFF2-40B4-BE49-F238E27FC236}">
                <a16:creationId xmlns:a16="http://schemas.microsoft.com/office/drawing/2014/main" id="{7ED65FFF-97FF-45BE-B195-E35BF7FD5593}"/>
              </a:ext>
            </a:extLst>
          </p:cNvPr>
          <p:cNvSpPr>
            <a:spLocks noGrp="1"/>
          </p:cNvSpPr>
          <p:nvPr/>
        </p:nvSpPr>
        <p:spPr>
          <a:xfrm>
            <a:off x="5905500" y="3638550"/>
            <a:ext cx="55721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대학별 입학성과 유형화와 전략 인사이트</a:t>
            </a:r>
          </a:p>
        </p:txBody>
      </p:sp>
      <p:sp>
        <p:nvSpPr>
          <p:cNvPr id="20" name="rule-554-432">
            <a:extLst>
              <a:ext uri="{FF2B5EF4-FFF2-40B4-BE49-F238E27FC236}">
                <a16:creationId xmlns:a16="http://schemas.microsoft.com/office/drawing/2014/main" id="{3EC66EA9-00E8-4217-B33E-42CF0E18E7F5}"/>
              </a:ext>
            </a:extLst>
          </p:cNvPr>
          <p:cNvSpPr>
            <a:spLocks noGrp="1"/>
          </p:cNvSpPr>
          <p:nvPr/>
        </p:nvSpPr>
        <p:spPr>
          <a:xfrm>
            <a:off x="5276850" y="4114800"/>
            <a:ext cx="62007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yvqc1m">
            <a:extLst>
              <a:ext uri="{FF2B5EF4-FFF2-40B4-BE49-F238E27FC236}">
                <a16:creationId xmlns:a16="http://schemas.microsoft.com/office/drawing/2014/main" id="{B611FD60-285E-4883-82AA-7E108AB76D3B}"/>
              </a:ext>
            </a:extLst>
          </p:cNvPr>
          <p:cNvSpPr>
            <a:spLocks noGrp="1"/>
          </p:cNvSpPr>
          <p:nvPr/>
        </p:nvSpPr>
        <p:spPr>
          <a:xfrm>
            <a:off x="5276850" y="43815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04</a:t>
            </a:r>
          </a:p>
        </p:txBody>
      </p:sp>
      <p:sp>
        <p:nvSpPr>
          <p:cNvPr id="22" name="text-88pjas">
            <a:extLst>
              <a:ext uri="{FF2B5EF4-FFF2-40B4-BE49-F238E27FC236}">
                <a16:creationId xmlns:a16="http://schemas.microsoft.com/office/drawing/2014/main" id="{6C75B855-EF58-4FE8-B535-02AA74DB34E2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55721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신입생 충원율 예측모형과 주요 요인</a:t>
            </a:r>
          </a:p>
        </p:txBody>
      </p:sp>
      <p:sp>
        <p:nvSpPr>
          <p:cNvPr id="23" name="rule-554-508">
            <a:extLst>
              <a:ext uri="{FF2B5EF4-FFF2-40B4-BE49-F238E27FC236}">
                <a16:creationId xmlns:a16="http://schemas.microsoft.com/office/drawing/2014/main" id="{46F3F06F-6959-4C35-8250-62D757C764A0}"/>
              </a:ext>
            </a:extLst>
          </p:cNvPr>
          <p:cNvSpPr>
            <a:spLocks noGrp="1"/>
          </p:cNvSpPr>
          <p:nvPr/>
        </p:nvSpPr>
        <p:spPr>
          <a:xfrm>
            <a:off x="5276850" y="4838700"/>
            <a:ext cx="62007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70r790">
            <a:extLst>
              <a:ext uri="{FF2B5EF4-FFF2-40B4-BE49-F238E27FC236}">
                <a16:creationId xmlns:a16="http://schemas.microsoft.com/office/drawing/2014/main" id="{3B863E57-6534-4B7A-8D73-7B43BCF9313E}"/>
              </a:ext>
            </a:extLst>
          </p:cNvPr>
          <p:cNvSpPr>
            <a:spLocks noGrp="1"/>
          </p:cNvSpPr>
          <p:nvPr/>
        </p:nvSpPr>
        <p:spPr>
          <a:xfrm>
            <a:off x="5276850" y="51054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05</a:t>
            </a:r>
          </a:p>
        </p:txBody>
      </p:sp>
      <p:sp>
        <p:nvSpPr>
          <p:cNvPr id="25" name="text-omn9kb">
            <a:extLst>
              <a:ext uri="{FF2B5EF4-FFF2-40B4-BE49-F238E27FC236}">
                <a16:creationId xmlns:a16="http://schemas.microsoft.com/office/drawing/2014/main" id="{A2EEB159-9F8C-417A-9344-38A60901F5A2}"/>
              </a:ext>
            </a:extLst>
          </p:cNvPr>
          <p:cNvSpPr>
            <a:spLocks noGrp="1"/>
          </p:cNvSpPr>
          <p:nvPr/>
        </p:nvSpPr>
        <p:spPr>
          <a:xfrm>
            <a:off x="5905500" y="5086350"/>
            <a:ext cx="55721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Power BI 대시보드와 통합 인사이트</a:t>
            </a:r>
          </a:p>
        </p:txBody>
      </p:sp>
      <p:sp>
        <p:nvSpPr>
          <p:cNvPr id="26" name="rule-554-584">
            <a:extLst>
              <a:ext uri="{FF2B5EF4-FFF2-40B4-BE49-F238E27FC236}">
                <a16:creationId xmlns:a16="http://schemas.microsoft.com/office/drawing/2014/main" id="{3320F629-75E8-48F4-81C0-062E2D1B0837}"/>
              </a:ext>
            </a:extLst>
          </p:cNvPr>
          <p:cNvSpPr>
            <a:spLocks noGrp="1"/>
          </p:cNvSpPr>
          <p:nvPr/>
        </p:nvSpPr>
        <p:spPr>
          <a:xfrm>
            <a:off x="5276850" y="5562600"/>
            <a:ext cx="6200775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b0tv9">
            <a:extLst>
              <a:ext uri="{FF2B5EF4-FFF2-40B4-BE49-F238E27FC236}">
                <a16:creationId xmlns:a16="http://schemas.microsoft.com/office/drawing/2014/main" id="{4C6045C9-9906-4153-BCDB-AA14B6C6DED7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9810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배경</a:t>
            </a:r>
            <a:r>
              <a:rPr dirty="0"/>
              <a:t> 및 </a:t>
            </a:r>
            <a:r>
              <a:rPr dirty="0" err="1"/>
              <a:t>연구문제</a:t>
            </a:r>
            <a:r>
              <a:rPr dirty="0"/>
              <a:t>: </a:t>
            </a:r>
            <a:r>
              <a:rPr dirty="0" err="1"/>
              <a:t>최종보고서</a:t>
            </a:r>
            <a:r>
              <a:rPr dirty="0"/>
              <a:t> 제1장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1C192C-2D84-C499-CC73-7152220147A0}"/>
              </a:ext>
            </a:extLst>
          </p:cNvPr>
          <p:cNvSpPr txBox="1"/>
          <p:nvPr/>
        </p:nvSpPr>
        <p:spPr>
          <a:xfrm>
            <a:off x="353883" y="550575"/>
            <a:ext cx="11484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충원율을 </a:t>
            </a:r>
            <a:r>
              <a:rPr lang="ko-KR" altLang="en-US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무엇이 설명하고</a:t>
            </a:r>
            <a:r>
              <a:rPr lang="en-US" altLang="ko-KR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결과를 전략으로 어떻게 전환</a:t>
            </a:r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할 것인가</a:t>
            </a:r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E0CD38-A951-1694-D76F-7F03CDAC7AD8}"/>
              </a:ext>
            </a:extLst>
          </p:cNvPr>
          <p:cNvSpPr txBox="1"/>
          <p:nvPr/>
        </p:nvSpPr>
        <p:spPr>
          <a:xfrm>
            <a:off x="580717" y="408115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목표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3B9C5-9BA7-4E42-2CE3-975C3D5C78DE}"/>
              </a:ext>
            </a:extLst>
          </p:cNvPr>
          <p:cNvSpPr txBox="1"/>
          <p:nvPr/>
        </p:nvSpPr>
        <p:spPr>
          <a:xfrm>
            <a:off x="473868" y="1636606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연구 출발점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B0D504-D3CC-4022-45AA-17AA6DCD1A13}"/>
              </a:ext>
            </a:extLst>
          </p:cNvPr>
          <p:cNvSpPr txBox="1"/>
          <p:nvPr/>
        </p:nvSpPr>
        <p:spPr>
          <a:xfrm>
            <a:off x="5201520" y="1644741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5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개 연구문제</a:t>
            </a:r>
          </a:p>
        </p:txBody>
      </p:sp>
      <p:sp>
        <p:nvSpPr>
          <p:cNvPr id="37" name="text-9t8coa">
            <a:extLst>
              <a:ext uri="{FF2B5EF4-FFF2-40B4-BE49-F238E27FC236}">
                <a16:creationId xmlns:a16="http://schemas.microsoft.com/office/drawing/2014/main" id="{2983BD92-F095-E03D-581E-4788E2B73B95}"/>
              </a:ext>
            </a:extLst>
          </p:cNvPr>
          <p:cNvSpPr>
            <a:spLocks noGrp="1"/>
          </p:cNvSpPr>
          <p:nvPr/>
        </p:nvSpPr>
        <p:spPr>
          <a:xfrm>
            <a:off x="5905499" y="2924175"/>
            <a:ext cx="5572125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취업성과 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 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졸업생 진학률과 충원율의 관계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541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7A2DE-D35A-9EC6-C05F-D9345516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8wc195">
            <a:extLst>
              <a:ext uri="{FF2B5EF4-FFF2-40B4-BE49-F238E27FC236}">
                <a16:creationId xmlns:a16="http://schemas.microsoft.com/office/drawing/2014/main" id="{12A5F842-7C63-2B73-AFCA-BF783B8769E0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3" name="rule-42-136">
            <a:extLst>
              <a:ext uri="{FF2B5EF4-FFF2-40B4-BE49-F238E27FC236}">
                <a16:creationId xmlns:a16="http://schemas.microsoft.com/office/drawing/2014/main" id="{3C747AD2-957E-842B-BDFB-689A91FE4CE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dm0h12">
            <a:extLst>
              <a:ext uri="{FF2B5EF4-FFF2-40B4-BE49-F238E27FC236}">
                <a16:creationId xmlns:a16="http://schemas.microsoft.com/office/drawing/2014/main" id="{1FBFA783-C58E-524D-DD97-55D2C0A358FA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10" name="rule-510-176">
            <a:extLst>
              <a:ext uri="{FF2B5EF4-FFF2-40B4-BE49-F238E27FC236}">
                <a16:creationId xmlns:a16="http://schemas.microsoft.com/office/drawing/2014/main" id="{72C4D3F4-E744-9BB0-40E6-9C31DFDAC455}"/>
              </a:ext>
            </a:extLst>
          </p:cNvPr>
          <p:cNvSpPr>
            <a:spLocks noGrp="1"/>
          </p:cNvSpPr>
          <p:nvPr/>
        </p:nvSpPr>
        <p:spPr>
          <a:xfrm flipH="1">
            <a:off x="6050281" y="1585521"/>
            <a:ext cx="45719" cy="4967679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A6BC6C-1846-E5D0-5D35-3B2B3F8A90E6}"/>
              </a:ext>
            </a:extLst>
          </p:cNvPr>
          <p:cNvSpPr txBox="1"/>
          <p:nvPr/>
        </p:nvSpPr>
        <p:spPr>
          <a:xfrm>
            <a:off x="353883" y="550575"/>
            <a:ext cx="98555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어디서 어떤 원자료를 가져왔고</a:t>
            </a:r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어떤 변수로 활용했는가</a:t>
            </a:r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E71DB8-2419-033C-AD89-E71921166A8B}"/>
              </a:ext>
            </a:extLst>
          </p:cNvPr>
          <p:cNvSpPr txBox="1"/>
          <p:nvPr/>
        </p:nvSpPr>
        <p:spPr>
          <a:xfrm>
            <a:off x="478709" y="151236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데이터 출처와 활용 변수</a:t>
            </a:r>
          </a:p>
        </p:txBody>
      </p:sp>
      <p:sp>
        <p:nvSpPr>
          <p:cNvPr id="5" name="text-t66sfn">
            <a:extLst>
              <a:ext uri="{FF2B5EF4-FFF2-40B4-BE49-F238E27FC236}">
                <a16:creationId xmlns:a16="http://schemas.microsoft.com/office/drawing/2014/main" id="{9ACB61DA-48FC-84F7-1606-4FF2250073E3}"/>
              </a:ext>
            </a:extLst>
          </p:cNvPr>
          <p:cNvSpPr>
            <a:spLocks noGrp="1"/>
          </p:cNvSpPr>
          <p:nvPr/>
        </p:nvSpPr>
        <p:spPr>
          <a:xfrm>
            <a:off x="573511" y="2089132"/>
            <a:ext cx="4988424" cy="4449779"/>
          </a:xfrm>
          <a:prstGeom prst="rect">
            <a:avLst/>
          </a:prstGeom>
        </p:spPr>
        <p:txBody>
          <a:bodyPr wrap="square" lIns="0" tIns="0" rIns="0" bIns="0" anchor="t">
            <a:normAutofit fontScale="96327" lnSpcReduction="10000"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1. </a:t>
            </a:r>
            <a:r>
              <a:rPr lang="en-US" sz="17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KOSIS </a:t>
            </a:r>
            <a:r>
              <a:rPr lang="ko-KR" altLang="en-US" sz="1700" dirty="0" err="1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국가통계포털</a:t>
            </a:r>
            <a:endParaRPr lang="en-US" altLang="ko-KR" sz="1700" dirty="0">
              <a:solidFill>
                <a:srgbClr val="0070C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  </a:t>
            </a: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지역별 </a:t>
            </a:r>
            <a:r>
              <a:rPr lang="en-US" altLang="ko-KR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18</a:t>
            </a: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세 인구 →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지역 </a:t>
            </a:r>
            <a:r>
              <a:rPr lang="en-US" altLang="ko-KR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기준연도 </a:t>
            </a:r>
            <a:r>
              <a:rPr lang="en-US" altLang="ko-KR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 18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세 인구</a:t>
            </a:r>
            <a:endParaRPr lang="en-US" altLang="ko-KR" sz="1500" dirty="0">
              <a:solidFill>
                <a:srgbClr val="FF000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endParaRPr lang="en-US" sz="5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2. </a:t>
            </a:r>
            <a:r>
              <a:rPr lang="ko-KR" altLang="en-US" sz="17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교육통계서비스</a:t>
            </a: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  고등학교 졸업 및 진학 현황</a:t>
            </a:r>
            <a:endParaRPr lang="en-US" altLang="ko-KR" sz="15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 </a:t>
            </a: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→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고교 졸업자 수</a:t>
            </a:r>
            <a:r>
              <a:rPr lang="en-US" altLang="ko-KR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진학자 수</a:t>
            </a:r>
            <a:r>
              <a:rPr lang="en-US" altLang="ko-KR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고교 졸업자의 대학 진학률 </a:t>
            </a:r>
            <a:endParaRPr lang="en-US" altLang="ko-KR" sz="1500" dirty="0">
              <a:solidFill>
                <a:srgbClr val="FF000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endParaRPr lang="en-US" sz="5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3. </a:t>
            </a:r>
            <a:r>
              <a:rPr lang="ko-KR" altLang="en-US" sz="17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대학알리미</a:t>
            </a:r>
            <a:r>
              <a:rPr lang="ko-KR" altLang="en-US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lang="en-US" altLang="ko-KR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| </a:t>
            </a:r>
            <a:r>
              <a:rPr lang="ko-KR" altLang="en-US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신입생 충원 현황</a:t>
            </a:r>
            <a:endParaRPr lang="en-US" altLang="ko-KR" sz="1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 </a:t>
            </a: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입학정원</a:t>
            </a:r>
            <a:r>
              <a:rPr lang="en-US" altLang="ko-KR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정원 내 모집인원</a:t>
            </a:r>
            <a:r>
              <a:rPr lang="en-US" altLang="ko-KR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정원 내 지원자</a:t>
            </a:r>
            <a:r>
              <a:rPr lang="en-US" altLang="ko-KR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정원 내 입학자</a:t>
            </a:r>
            <a:endParaRPr lang="en-US" altLang="ko-KR" sz="15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  →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</a:t>
            </a:r>
            <a:r>
              <a:rPr lang="en-US" altLang="ko-KR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정원 내 신입생 </a:t>
            </a:r>
            <a:r>
              <a:rPr lang="ko-KR" altLang="en-US" sz="1500" dirty="0" err="1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</a:t>
            </a:r>
            <a:endParaRPr lang="en-US" altLang="ko-KR" sz="1500" dirty="0">
              <a:solidFill>
                <a:srgbClr val="FF000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endParaRPr lang="en-US" sz="5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4. </a:t>
            </a:r>
            <a:r>
              <a:rPr lang="ko-KR" altLang="en-US" sz="17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대학알리미</a:t>
            </a:r>
            <a:r>
              <a:rPr lang="ko-KR" altLang="en-US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lang="en-US" altLang="ko-KR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| </a:t>
            </a:r>
            <a:r>
              <a:rPr lang="ko-KR" altLang="en-US" sz="17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졸업생 취업 현황</a:t>
            </a:r>
            <a:endParaRPr lang="ko-KR" altLang="en-US" sz="1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  →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졸업자</a:t>
            </a:r>
            <a:r>
              <a:rPr lang="en-US" altLang="ko-KR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취업자</a:t>
            </a:r>
            <a:r>
              <a:rPr lang="en-US" altLang="ko-KR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진학자</a:t>
            </a: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  →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취업률</a:t>
            </a:r>
            <a:r>
              <a:rPr lang="en-US" altLang="ko-KR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졸업생 진학률</a:t>
            </a: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endParaRPr lang="en-US" sz="500" dirty="0">
              <a:solidFill>
                <a:schemeClr val="bg1">
                  <a:lumMod val="50000"/>
                </a:schemeClr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* 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기관별 원자료를 지역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대학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연도 기준으로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정합화하여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   22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개 대학 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× 3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개년 분석용 데이터셋을 구축하였다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.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05818-5B21-13BB-67AF-BE59377EF6A2}"/>
              </a:ext>
            </a:extLst>
          </p:cNvPr>
          <p:cNvSpPr txBox="1"/>
          <p:nvPr/>
        </p:nvSpPr>
        <p:spPr>
          <a:xfrm>
            <a:off x="6222385" y="1512363"/>
            <a:ext cx="355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부산외국어대학교 </a:t>
            </a:r>
            <a:r>
              <a:rPr lang="ko-KR" altLang="en-US" dirty="0" err="1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원자료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 검증 예시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78631CA-304A-10C6-ADD6-1D706E261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47089"/>
              </p:ext>
            </p:extLst>
          </p:nvPr>
        </p:nvGraphicFramePr>
        <p:xfrm>
          <a:off x="6271746" y="2089132"/>
          <a:ext cx="5520204" cy="1097280"/>
        </p:xfrm>
        <a:graphic>
          <a:graphicData uri="http://schemas.openxmlformats.org/drawingml/2006/table">
            <a:tbl>
              <a:tblPr/>
              <a:tblGrid>
                <a:gridCol w="787815">
                  <a:extLst>
                    <a:ext uri="{9D8B030D-6E8A-4147-A177-3AD203B41FA5}">
                      <a16:colId xmlns:a16="http://schemas.microsoft.com/office/drawing/2014/main" val="1489361220"/>
                    </a:ext>
                  </a:extLst>
                </a:gridCol>
                <a:gridCol w="1052253">
                  <a:extLst>
                    <a:ext uri="{9D8B030D-6E8A-4147-A177-3AD203B41FA5}">
                      <a16:colId xmlns:a16="http://schemas.microsoft.com/office/drawing/2014/main" val="149399653"/>
                    </a:ext>
                  </a:extLst>
                </a:gridCol>
                <a:gridCol w="1032186">
                  <a:extLst>
                    <a:ext uri="{9D8B030D-6E8A-4147-A177-3AD203B41FA5}">
                      <a16:colId xmlns:a16="http://schemas.microsoft.com/office/drawing/2014/main" val="3995348110"/>
                    </a:ext>
                  </a:extLst>
                </a:gridCol>
                <a:gridCol w="1022555">
                  <a:extLst>
                    <a:ext uri="{9D8B030D-6E8A-4147-A177-3AD203B41FA5}">
                      <a16:colId xmlns:a16="http://schemas.microsoft.com/office/drawing/2014/main" val="3276576200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6791037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81965129"/>
                    </a:ext>
                  </a:extLst>
                </a:gridCol>
              </a:tblGrid>
              <a:tr h="2175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연도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정원 내 모집</a:t>
                      </a:r>
                      <a:endParaRPr lang="ko-KR" sz="120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정원 내 지원</a:t>
                      </a:r>
                      <a:endParaRPr lang="ko-KR" sz="120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정원 내 입학</a:t>
                      </a:r>
                      <a:endParaRPr lang="ko-KR" sz="120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 err="1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충원율</a:t>
                      </a:r>
                      <a:endParaRPr lang="ko-KR" sz="120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경쟁률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779580"/>
                  </a:ext>
                </a:extLst>
              </a:tr>
              <a:tr h="2175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1,508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6,659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1,503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b="0" dirty="0">
                          <a:solidFill>
                            <a:srgbClr val="0070C0"/>
                          </a:solidFill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99.7%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b="0" dirty="0">
                          <a:solidFill>
                            <a:srgbClr val="FF0000"/>
                          </a:solidFill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4.4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95787"/>
                  </a:ext>
                </a:extLst>
              </a:tr>
              <a:tr h="2175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1,501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5,303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1,484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b="0" dirty="0">
                          <a:solidFill>
                            <a:srgbClr val="0070C0"/>
                          </a:solidFill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98.9%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b="0" dirty="0">
                          <a:solidFill>
                            <a:srgbClr val="FF0000"/>
                          </a:solidFill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178572"/>
                  </a:ext>
                </a:extLst>
              </a:tr>
              <a:tr h="2175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1,471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5,320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1,472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b="0" dirty="0">
                          <a:solidFill>
                            <a:srgbClr val="0070C0"/>
                          </a:solidFill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100.1%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sz="1200" b="0" dirty="0">
                          <a:solidFill>
                            <a:srgbClr val="FF0000"/>
                          </a:solidFill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943271"/>
                  </a:ext>
                </a:extLst>
              </a:tr>
            </a:tbl>
          </a:graphicData>
        </a:graphic>
      </p:graphicFrame>
      <p:sp>
        <p:nvSpPr>
          <p:cNvPr id="12" name="text-t66sfn">
            <a:extLst>
              <a:ext uri="{FF2B5EF4-FFF2-40B4-BE49-F238E27FC236}">
                <a16:creationId xmlns:a16="http://schemas.microsoft.com/office/drawing/2014/main" id="{35F5041A-CC74-F841-2F20-3D73D9DAD9C1}"/>
              </a:ext>
            </a:extLst>
          </p:cNvPr>
          <p:cNvSpPr>
            <a:spLocks noGrp="1"/>
          </p:cNvSpPr>
          <p:nvPr/>
        </p:nvSpPr>
        <p:spPr>
          <a:xfrm>
            <a:off x="6341806" y="3393849"/>
            <a:ext cx="5450142" cy="3159351"/>
          </a:xfrm>
          <a:prstGeom prst="rect">
            <a:avLst/>
          </a:prstGeom>
        </p:spPr>
        <p:txBody>
          <a:bodyPr wrap="square" lIns="0" tIns="0" rIns="0" bIns="0" anchor="t">
            <a:normAutofit fontScale="96327"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=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정원내 입학자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÷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정원내 모집인원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× 100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=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정원내 지원자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÷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정원내 모집인원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* </a:t>
            </a:r>
            <a:r>
              <a:rPr lang="ko-KR" altLang="en-US"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원자료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캠퍼스 행 산식 검증 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69/69 PASS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→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단위 통합 후 최종 분석자료 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66/66 PASS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*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대학알리미 원자료의 정원내 모집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지원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입학 인원을 직접 대조하고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공시 </a:t>
            </a:r>
            <a:r>
              <a:rPr lang="ko-KR" altLang="en-US"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경쟁률을 재계산하여 최종 분석자료의 정확성을 검증하였다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</a:t>
            </a: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254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le-42-136">
            <a:extLst>
              <a:ext uri="{FF2B5EF4-FFF2-40B4-BE49-F238E27FC236}">
                <a16:creationId xmlns:a16="http://schemas.microsoft.com/office/drawing/2014/main" id="{51FD2554-8072-4C24-A5E5-81935D70D90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52dl2f">
            <a:extLst>
              <a:ext uri="{FF2B5EF4-FFF2-40B4-BE49-F238E27FC236}">
                <a16:creationId xmlns:a16="http://schemas.microsoft.com/office/drawing/2014/main" id="{1B61FE67-FB31-4AE9-A0B7-1FE871992FD0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5" name="shape-iwnz98">
            <a:extLst>
              <a:ext uri="{FF2B5EF4-FFF2-40B4-BE49-F238E27FC236}">
                <a16:creationId xmlns:a16="http://schemas.microsoft.com/office/drawing/2014/main" id="{2611C71A-F8D0-46DB-B24D-2877334E188F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429000" cy="1447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-iew6e9">
            <a:extLst>
              <a:ext uri="{FF2B5EF4-FFF2-40B4-BE49-F238E27FC236}">
                <a16:creationId xmlns:a16="http://schemas.microsoft.com/office/drawing/2014/main" id="{7C6B4BA5-8545-44CD-AC1C-D0F861FFF278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76200" cy="14478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57lm67">
            <a:extLst>
              <a:ext uri="{FF2B5EF4-FFF2-40B4-BE49-F238E27FC236}">
                <a16:creationId xmlns:a16="http://schemas.microsoft.com/office/drawing/2014/main" id="{7D24701B-7296-4DE0-9F88-3903F2682F51}"/>
              </a:ext>
            </a:extLst>
          </p:cNvPr>
          <p:cNvSpPr>
            <a:spLocks noGrp="1"/>
          </p:cNvSpPr>
          <p:nvPr/>
        </p:nvSpPr>
        <p:spPr>
          <a:xfrm>
            <a:off x="647700" y="2533650"/>
            <a:ext cx="29718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분석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대상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9" name="shape-yplm49">
            <a:extLst>
              <a:ext uri="{FF2B5EF4-FFF2-40B4-BE49-F238E27FC236}">
                <a16:creationId xmlns:a16="http://schemas.microsoft.com/office/drawing/2014/main" id="{AB9ACD07-99E8-4F2E-8269-1D213E96E502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429000" cy="1447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-kp764n">
            <a:extLst>
              <a:ext uri="{FF2B5EF4-FFF2-40B4-BE49-F238E27FC236}">
                <a16:creationId xmlns:a16="http://schemas.microsoft.com/office/drawing/2014/main" id="{4B044858-7BA8-4501-BCF5-B2FA07D693E1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76200" cy="14478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-2akw5u">
            <a:extLst>
              <a:ext uri="{FF2B5EF4-FFF2-40B4-BE49-F238E27FC236}">
                <a16:creationId xmlns:a16="http://schemas.microsoft.com/office/drawing/2014/main" id="{882F9F03-AB42-46BC-9FFF-5B6501D7737C}"/>
              </a:ext>
            </a:extLst>
          </p:cNvPr>
          <p:cNvSpPr>
            <a:spLocks noGrp="1"/>
          </p:cNvSpPr>
          <p:nvPr/>
        </p:nvSpPr>
        <p:spPr>
          <a:xfrm>
            <a:off x="4629150" y="2533650"/>
            <a:ext cx="29718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2023–2025년</a:t>
            </a:r>
          </a:p>
        </p:txBody>
      </p:sp>
      <p:sp>
        <p:nvSpPr>
          <p:cNvPr id="13" name="shape-jdco0b">
            <a:extLst>
              <a:ext uri="{FF2B5EF4-FFF2-40B4-BE49-F238E27FC236}">
                <a16:creationId xmlns:a16="http://schemas.microsoft.com/office/drawing/2014/main" id="{825E3108-2520-4A8B-AA99-631BF52F0D70}"/>
              </a:ext>
            </a:extLst>
          </p:cNvPr>
          <p:cNvSpPr>
            <a:spLocks noGrp="1"/>
          </p:cNvSpPr>
          <p:nvPr/>
        </p:nvSpPr>
        <p:spPr>
          <a:xfrm>
            <a:off x="8362950" y="1619250"/>
            <a:ext cx="3429000" cy="1447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-7cg3a9">
            <a:extLst>
              <a:ext uri="{FF2B5EF4-FFF2-40B4-BE49-F238E27FC236}">
                <a16:creationId xmlns:a16="http://schemas.microsoft.com/office/drawing/2014/main" id="{9141F952-55A2-44E9-A74D-062A4BA8B4BB}"/>
              </a:ext>
            </a:extLst>
          </p:cNvPr>
          <p:cNvSpPr>
            <a:spLocks noGrp="1"/>
          </p:cNvSpPr>
          <p:nvPr/>
        </p:nvSpPr>
        <p:spPr>
          <a:xfrm>
            <a:off x="8362950" y="1619250"/>
            <a:ext cx="76200" cy="14478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vr078n">
            <a:extLst>
              <a:ext uri="{FF2B5EF4-FFF2-40B4-BE49-F238E27FC236}">
                <a16:creationId xmlns:a16="http://schemas.microsoft.com/office/drawing/2014/main" id="{A41834C5-1F8B-4BBB-94F1-314C8C24A316}"/>
              </a:ext>
            </a:extLst>
          </p:cNvPr>
          <p:cNvSpPr>
            <a:spLocks noGrp="1"/>
          </p:cNvSpPr>
          <p:nvPr/>
        </p:nvSpPr>
        <p:spPr>
          <a:xfrm>
            <a:off x="8610600" y="2533650"/>
            <a:ext cx="29718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대학-연도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관측치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8" name="text-t6s57z">
            <a:extLst>
              <a:ext uri="{FF2B5EF4-FFF2-40B4-BE49-F238E27FC236}">
                <a16:creationId xmlns:a16="http://schemas.microsoft.com/office/drawing/2014/main" id="{071CD3BC-C323-4A16-9D0D-6C08F1B2BCF3}"/>
              </a:ext>
            </a:extLst>
          </p:cNvPr>
          <p:cNvSpPr>
            <a:spLocks noGrp="1"/>
          </p:cNvSpPr>
          <p:nvPr/>
        </p:nvSpPr>
        <p:spPr>
          <a:xfrm>
            <a:off x="2190750" y="3448050"/>
            <a:ext cx="933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대학알리미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·  KOSIS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국가통계포털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· 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교육통계서비스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9" name="rule-100-494">
            <a:extLst>
              <a:ext uri="{FF2B5EF4-FFF2-40B4-BE49-F238E27FC236}">
                <a16:creationId xmlns:a16="http://schemas.microsoft.com/office/drawing/2014/main" id="{3149237D-9EB2-4E57-AEA1-C0E319F93568}"/>
              </a:ext>
            </a:extLst>
          </p:cNvPr>
          <p:cNvSpPr>
            <a:spLocks noGrp="1"/>
          </p:cNvSpPr>
          <p:nvPr/>
        </p:nvSpPr>
        <p:spPr>
          <a:xfrm>
            <a:off x="952500" y="4705350"/>
            <a:ext cx="10287000" cy="2857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-m1bl23">
            <a:extLst>
              <a:ext uri="{FF2B5EF4-FFF2-40B4-BE49-F238E27FC236}">
                <a16:creationId xmlns:a16="http://schemas.microsoft.com/office/drawing/2014/main" id="{EB66DC55-C229-4474-96B9-5A6457D553ED}"/>
              </a:ext>
            </a:extLst>
          </p:cNvPr>
          <p:cNvSpPr>
            <a:spLocks noGrp="1"/>
          </p:cNvSpPr>
          <p:nvPr/>
        </p:nvSpPr>
        <p:spPr>
          <a:xfrm>
            <a:off x="400050" y="4305300"/>
            <a:ext cx="1428750" cy="8001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-zltxmn">
            <a:extLst>
              <a:ext uri="{FF2B5EF4-FFF2-40B4-BE49-F238E27FC236}">
                <a16:creationId xmlns:a16="http://schemas.microsoft.com/office/drawing/2014/main" id="{385B71C0-DD92-41BD-B6F5-EA13A2504165}"/>
              </a:ext>
            </a:extLst>
          </p:cNvPr>
          <p:cNvSpPr>
            <a:spLocks noGrp="1"/>
          </p:cNvSpPr>
          <p:nvPr/>
        </p:nvSpPr>
        <p:spPr>
          <a:xfrm>
            <a:off x="495300" y="4791075"/>
            <a:ext cx="1238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원자료 확보</a:t>
            </a:r>
          </a:p>
        </p:txBody>
      </p:sp>
      <p:sp>
        <p:nvSpPr>
          <p:cNvPr id="23" name="shape-xbmnvu">
            <a:extLst>
              <a:ext uri="{FF2B5EF4-FFF2-40B4-BE49-F238E27FC236}">
                <a16:creationId xmlns:a16="http://schemas.microsoft.com/office/drawing/2014/main" id="{7C7593EA-1B11-4B77-9EF0-43E902A217AC}"/>
              </a:ext>
            </a:extLst>
          </p:cNvPr>
          <p:cNvSpPr>
            <a:spLocks noGrp="1"/>
          </p:cNvSpPr>
          <p:nvPr/>
        </p:nvSpPr>
        <p:spPr>
          <a:xfrm>
            <a:off x="2295525" y="4305300"/>
            <a:ext cx="1428750" cy="8001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-dovm0q">
            <a:extLst>
              <a:ext uri="{FF2B5EF4-FFF2-40B4-BE49-F238E27FC236}">
                <a16:creationId xmlns:a16="http://schemas.microsoft.com/office/drawing/2014/main" id="{CC5F54E1-4607-4F02-BCEC-FE4D8FC90673}"/>
              </a:ext>
            </a:extLst>
          </p:cNvPr>
          <p:cNvSpPr>
            <a:spLocks noGrp="1"/>
          </p:cNvSpPr>
          <p:nvPr/>
        </p:nvSpPr>
        <p:spPr>
          <a:xfrm>
            <a:off x="2390775" y="4791075"/>
            <a:ext cx="1238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대학·연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도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기준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정합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6" name="shape-5z8m1a">
            <a:extLst>
              <a:ext uri="{FF2B5EF4-FFF2-40B4-BE49-F238E27FC236}">
                <a16:creationId xmlns:a16="http://schemas.microsoft.com/office/drawing/2014/main" id="{C37FC0E3-4FA4-46BD-A2CB-F95CA0B47AB4}"/>
              </a:ext>
            </a:extLst>
          </p:cNvPr>
          <p:cNvSpPr>
            <a:spLocks noGrp="1"/>
          </p:cNvSpPr>
          <p:nvPr/>
        </p:nvSpPr>
        <p:spPr>
          <a:xfrm>
            <a:off x="4191000" y="4305300"/>
            <a:ext cx="1428750" cy="8001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-6an8gj">
            <a:extLst>
              <a:ext uri="{FF2B5EF4-FFF2-40B4-BE49-F238E27FC236}">
                <a16:creationId xmlns:a16="http://schemas.microsoft.com/office/drawing/2014/main" id="{1CF7BF5D-B66C-4184-9B0F-033DAB041C1B}"/>
              </a:ext>
            </a:extLst>
          </p:cNvPr>
          <p:cNvSpPr>
            <a:spLocks noGrp="1"/>
          </p:cNvSpPr>
          <p:nvPr/>
        </p:nvSpPr>
        <p:spPr>
          <a:xfrm>
            <a:off x="4286250" y="4733925"/>
            <a:ext cx="1238250" cy="285750"/>
          </a:xfrm>
          <a:prstGeom prst="rect">
            <a:avLst/>
          </a:prstGeom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1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22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 대학 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×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endParaRPr lang="en-US" altLang="ko-KR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ctr">
              <a:defRPr sz="11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3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개년 패널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구축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9" name="shape-pzcww3">
            <a:extLst>
              <a:ext uri="{FF2B5EF4-FFF2-40B4-BE49-F238E27FC236}">
                <a16:creationId xmlns:a16="http://schemas.microsoft.com/office/drawing/2014/main" id="{4D829BAC-679F-45A5-AC2C-F8770A370E0B}"/>
              </a:ext>
            </a:extLst>
          </p:cNvPr>
          <p:cNvSpPr>
            <a:spLocks noGrp="1"/>
          </p:cNvSpPr>
          <p:nvPr/>
        </p:nvSpPr>
        <p:spPr>
          <a:xfrm>
            <a:off x="6086475" y="4305300"/>
            <a:ext cx="1428750" cy="8001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-i7t9zg">
            <a:extLst>
              <a:ext uri="{FF2B5EF4-FFF2-40B4-BE49-F238E27FC236}">
                <a16:creationId xmlns:a16="http://schemas.microsoft.com/office/drawing/2014/main" id="{117F59AE-2DC2-472E-AEB4-1E58CDC1041D}"/>
              </a:ext>
            </a:extLst>
          </p:cNvPr>
          <p:cNvSpPr>
            <a:spLocks noGrp="1"/>
          </p:cNvSpPr>
          <p:nvPr/>
        </p:nvSpPr>
        <p:spPr>
          <a:xfrm>
            <a:off x="6181725" y="4791075"/>
            <a:ext cx="1238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EDA·상관·회귀</a:t>
            </a:r>
          </a:p>
        </p:txBody>
      </p:sp>
      <p:sp>
        <p:nvSpPr>
          <p:cNvPr id="32" name="shape-zq7q0g">
            <a:extLst>
              <a:ext uri="{FF2B5EF4-FFF2-40B4-BE49-F238E27FC236}">
                <a16:creationId xmlns:a16="http://schemas.microsoft.com/office/drawing/2014/main" id="{CD508B69-D254-4646-B29B-7E7ABCC8B96B}"/>
              </a:ext>
            </a:extLst>
          </p:cNvPr>
          <p:cNvSpPr>
            <a:spLocks noGrp="1"/>
          </p:cNvSpPr>
          <p:nvPr/>
        </p:nvSpPr>
        <p:spPr>
          <a:xfrm>
            <a:off x="7981950" y="4305300"/>
            <a:ext cx="1428750" cy="8001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7e5om8">
            <a:extLst>
              <a:ext uri="{FF2B5EF4-FFF2-40B4-BE49-F238E27FC236}">
                <a16:creationId xmlns:a16="http://schemas.microsoft.com/office/drawing/2014/main" id="{BFEB9F8A-AFF9-4E8A-AF0B-ECFE7CF8224C}"/>
              </a:ext>
            </a:extLst>
          </p:cNvPr>
          <p:cNvSpPr>
            <a:spLocks noGrp="1"/>
          </p:cNvSpPr>
          <p:nvPr/>
        </p:nvSpPr>
        <p:spPr>
          <a:xfrm>
            <a:off x="8077200" y="4791075"/>
            <a:ext cx="1238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유형화·예측</a:t>
            </a:r>
          </a:p>
        </p:txBody>
      </p:sp>
      <p:sp>
        <p:nvSpPr>
          <p:cNvPr id="35" name="shape-dtk5r7">
            <a:extLst>
              <a:ext uri="{FF2B5EF4-FFF2-40B4-BE49-F238E27FC236}">
                <a16:creationId xmlns:a16="http://schemas.microsoft.com/office/drawing/2014/main" id="{F873251C-B4CE-4ACA-9733-F9A16DC425E2}"/>
              </a:ext>
            </a:extLst>
          </p:cNvPr>
          <p:cNvSpPr>
            <a:spLocks noGrp="1"/>
          </p:cNvSpPr>
          <p:nvPr/>
        </p:nvSpPr>
        <p:spPr>
          <a:xfrm>
            <a:off x="9877425" y="4305300"/>
            <a:ext cx="1428750" cy="800100"/>
          </a:xfrm>
          <a:prstGeom prst="rect">
            <a:avLst/>
          </a:prstGeom>
          <a:solidFill>
            <a:srgbClr val="D7ECFB"/>
          </a:solidFill>
          <a:ln w="0">
            <a:solidFill>
              <a:srgbClr val="D7EC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-6haxex">
            <a:extLst>
              <a:ext uri="{FF2B5EF4-FFF2-40B4-BE49-F238E27FC236}">
                <a16:creationId xmlns:a16="http://schemas.microsoft.com/office/drawing/2014/main" id="{AC601C3B-5D93-4A49-B35C-9B29B03FC25B}"/>
              </a:ext>
            </a:extLst>
          </p:cNvPr>
          <p:cNvSpPr>
            <a:spLocks noGrp="1"/>
          </p:cNvSpPr>
          <p:nvPr/>
        </p:nvSpPr>
        <p:spPr>
          <a:xfrm>
            <a:off x="9972675" y="4791075"/>
            <a:ext cx="1238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S</a:t>
            </a:r>
            <a:r>
              <a:rPr lang="en-US"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AV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·Power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BI</a:t>
            </a:r>
          </a:p>
        </p:txBody>
      </p:sp>
      <p:sp>
        <p:nvSpPr>
          <p:cNvPr id="38" name="text-huf184">
            <a:extLst>
              <a:ext uri="{FF2B5EF4-FFF2-40B4-BE49-F238E27FC236}">
                <a16:creationId xmlns:a16="http://schemas.microsoft.com/office/drawing/2014/main" id="{776CFBAD-20D5-4AFD-985E-8EBC09C6EEF8}"/>
              </a:ext>
            </a:extLst>
          </p:cNvPr>
          <p:cNvSpPr>
            <a:spLocks noGrp="1"/>
          </p:cNvSpPr>
          <p:nvPr/>
        </p:nvSpPr>
        <p:spPr>
          <a:xfrm>
            <a:off x="400050" y="5638800"/>
            <a:ext cx="1047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Python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중심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분석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· SPSS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검증용 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SAV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구축 및 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Python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독립 재현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· Power BI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시각화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· GitHub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재현성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관리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39" name="text-dhbhte">
            <a:extLst>
              <a:ext uri="{FF2B5EF4-FFF2-40B4-BE49-F238E27FC236}">
                <a16:creationId xmlns:a16="http://schemas.microsoft.com/office/drawing/2014/main" id="{9628860F-AE25-4B7B-840E-3A8C7B8A8299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9810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자료 구조 및 분석 방법: 최종보고서 제2장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E8F71F-E6FE-1DF9-0F29-91D1B16D4996}"/>
              </a:ext>
            </a:extLst>
          </p:cNvPr>
          <p:cNvSpPr txBox="1"/>
          <p:nvPr/>
        </p:nvSpPr>
        <p:spPr>
          <a:xfrm>
            <a:off x="353883" y="550575"/>
            <a:ext cx="10655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세 출처의 공공 데이터를 </a:t>
            </a:r>
            <a:r>
              <a:rPr lang="en-US" altLang="ko-KR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22</a:t>
            </a:r>
            <a:r>
              <a:rPr lang="ko-KR" altLang="en-US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개 대학의 패널 데이터로 통합</a:t>
            </a:r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했다</a:t>
            </a:r>
            <a:endParaRPr lang="en-US" altLang="ko-KR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44" name="text-8wc195">
            <a:extLst>
              <a:ext uri="{FF2B5EF4-FFF2-40B4-BE49-F238E27FC236}">
                <a16:creationId xmlns:a16="http://schemas.microsoft.com/office/drawing/2014/main" id="{2FA95FA7-066A-565A-1BD5-4FEE3CA883A3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EDEC6A-AC0B-4A87-8447-0C492538E4EC}"/>
              </a:ext>
            </a:extLst>
          </p:cNvPr>
          <p:cNvSpPr txBox="1"/>
          <p:nvPr/>
        </p:nvSpPr>
        <p:spPr>
          <a:xfrm>
            <a:off x="552450" y="1853625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22</a:t>
            </a:r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1E95A-D151-CDD8-4ABF-6F435DFF93BD}"/>
              </a:ext>
            </a:extLst>
          </p:cNvPr>
          <p:cNvSpPr txBox="1"/>
          <p:nvPr/>
        </p:nvSpPr>
        <p:spPr>
          <a:xfrm>
            <a:off x="4543118" y="1849725"/>
            <a:ext cx="1175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3</a:t>
            </a:r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033739-908C-CC8B-92A0-4EDB92112DDA}"/>
              </a:ext>
            </a:extLst>
          </p:cNvPr>
          <p:cNvSpPr txBox="1"/>
          <p:nvPr/>
        </p:nvSpPr>
        <p:spPr>
          <a:xfrm>
            <a:off x="8512280" y="1853624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66</a:t>
            </a:r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24B1BE-8273-C66A-53F1-B60D80BAA185}"/>
              </a:ext>
            </a:extLst>
          </p:cNvPr>
          <p:cNvSpPr txBox="1"/>
          <p:nvPr/>
        </p:nvSpPr>
        <p:spPr>
          <a:xfrm>
            <a:off x="494379" y="3383833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데이터 출처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84603F-8131-0172-01EA-1DEF140D8F8A}"/>
              </a:ext>
            </a:extLst>
          </p:cNvPr>
          <p:cNvSpPr txBox="1"/>
          <p:nvPr/>
        </p:nvSpPr>
        <p:spPr>
          <a:xfrm>
            <a:off x="832937" y="4371975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수집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C7F194-2070-B0DB-4259-76E1325F0897}"/>
              </a:ext>
            </a:extLst>
          </p:cNvPr>
          <p:cNvSpPr txBox="1"/>
          <p:nvPr/>
        </p:nvSpPr>
        <p:spPr>
          <a:xfrm>
            <a:off x="2633835" y="4366796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전처리</a:t>
            </a:r>
            <a:endParaRPr lang="ko-KR" altLang="en-US" sz="16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1E7CDE-DE35-0990-F208-D8BC1FF9CA8B}"/>
              </a:ext>
            </a:extLst>
          </p:cNvPr>
          <p:cNvSpPr txBox="1"/>
          <p:nvPr/>
        </p:nvSpPr>
        <p:spPr>
          <a:xfrm>
            <a:off x="4619471" y="4371975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통합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D9A998-2B1A-008C-13FF-0F3E127FC24E}"/>
              </a:ext>
            </a:extLst>
          </p:cNvPr>
          <p:cNvSpPr txBox="1"/>
          <p:nvPr/>
        </p:nvSpPr>
        <p:spPr>
          <a:xfrm>
            <a:off x="6519362" y="4376936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분석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61584E-CD7D-D2BD-8E61-8839F47B47AE}"/>
              </a:ext>
            </a:extLst>
          </p:cNvPr>
          <p:cNvSpPr txBox="1"/>
          <p:nvPr/>
        </p:nvSpPr>
        <p:spPr>
          <a:xfrm>
            <a:off x="8414837" y="4371975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확장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D04104-919E-C30B-594B-D389EAF8B324}"/>
              </a:ext>
            </a:extLst>
          </p:cNvPr>
          <p:cNvSpPr txBox="1"/>
          <p:nvPr/>
        </p:nvSpPr>
        <p:spPr>
          <a:xfrm>
            <a:off x="9931403" y="4366796"/>
            <a:ext cx="1311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검증 </a:t>
            </a:r>
            <a:r>
              <a:rPr lang="en-US" altLang="ko-KR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 </a:t>
            </a:r>
            <a:r>
              <a:rPr lang="ko-KR" altLang="en-US" sz="16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시각화</a:t>
            </a:r>
          </a:p>
        </p:txBody>
      </p:sp>
    </p:spTree>
    <p:extLst>
      <p:ext uri="{BB962C8B-B14F-4D97-AF65-F5344CB8AC3E}">
        <p14:creationId xmlns:p14="http://schemas.microsoft.com/office/powerpoint/2010/main" val="22595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le-42-136">
            <a:extLst>
              <a:ext uri="{FF2B5EF4-FFF2-40B4-BE49-F238E27FC236}">
                <a16:creationId xmlns:a16="http://schemas.microsoft.com/office/drawing/2014/main" id="{BA1FD5F5-6E8C-4412-9768-C3106044071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4tq1d6">
            <a:extLst>
              <a:ext uri="{FF2B5EF4-FFF2-40B4-BE49-F238E27FC236}">
                <a16:creationId xmlns:a16="http://schemas.microsoft.com/office/drawing/2014/main" id="{7BBFBBFB-F41C-49E3-B1E5-E1DBE28E1FD0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5" name="shape-zn9kmn">
            <a:extLst>
              <a:ext uri="{FF2B5EF4-FFF2-40B4-BE49-F238E27FC236}">
                <a16:creationId xmlns:a16="http://schemas.microsoft.com/office/drawing/2014/main" id="{B3029F58-B5CF-48C6-8E7D-371519262F2B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5410200" cy="3352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-8zictn">
            <a:extLst>
              <a:ext uri="{FF2B5EF4-FFF2-40B4-BE49-F238E27FC236}">
                <a16:creationId xmlns:a16="http://schemas.microsoft.com/office/drawing/2014/main" id="{916B808D-B9E6-4453-BDEC-D3E7EB4FC1F1}"/>
              </a:ext>
            </a:extLst>
          </p:cNvPr>
          <p:cNvSpPr>
            <a:spLocks noGrp="1"/>
          </p:cNvSpPr>
          <p:nvPr/>
        </p:nvSpPr>
        <p:spPr>
          <a:xfrm>
            <a:off x="5981700" y="1600200"/>
            <a:ext cx="5810250" cy="3352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d9xipo">
            <a:extLst>
              <a:ext uri="{FF2B5EF4-FFF2-40B4-BE49-F238E27FC236}">
                <a16:creationId xmlns:a16="http://schemas.microsoft.com/office/drawing/2014/main" id="{72F31C1B-B7A4-4DE1-A521-C42930D16F7E}"/>
              </a:ext>
            </a:extLst>
          </p:cNvPr>
          <p:cNvSpPr>
            <a:spLocks noGrp="1"/>
          </p:cNvSpPr>
          <p:nvPr/>
        </p:nvSpPr>
        <p:spPr>
          <a:xfrm>
            <a:off x="400050" y="5505449"/>
            <a:ext cx="5143500" cy="7067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지역의 입학환경 규모를 보여주지만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</a:p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경쟁률은 대학별 차이가 크게 나타났다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2" name="text-1e8iye">
            <a:extLst>
              <a:ext uri="{FF2B5EF4-FFF2-40B4-BE49-F238E27FC236}">
                <a16:creationId xmlns:a16="http://schemas.microsoft.com/office/drawing/2014/main" id="{BF9160E0-8D45-4F32-AF91-95E63CD06146}"/>
              </a:ext>
            </a:extLst>
          </p:cNvPr>
          <p:cNvSpPr>
            <a:spLocks noGrp="1"/>
          </p:cNvSpPr>
          <p:nvPr/>
        </p:nvSpPr>
        <p:spPr>
          <a:xfrm>
            <a:off x="5981700" y="5505450"/>
            <a:ext cx="5524500" cy="70672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지역의 진학 흐름을 보여주지만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</a:p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신입생 충원율은 대학별 차이가 크게 나타났다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</a:t>
            </a:r>
            <a:endParaRPr lang="ko-KR" alt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3" name="text-7p1vke">
            <a:extLst>
              <a:ext uri="{FF2B5EF4-FFF2-40B4-BE49-F238E27FC236}">
                <a16:creationId xmlns:a16="http://schemas.microsoft.com/office/drawing/2014/main" id="{BC925EAD-66C4-4182-93E9-4C799C0E5D9E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9810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보고서 그림 1–2 | 3개년 자료이므로 장기 추세보다 구조적 배경을 탐색하는 수준으로 해석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78899-B824-2CEA-6305-602C715A76B1}"/>
              </a:ext>
            </a:extLst>
          </p:cNvPr>
          <p:cNvSpPr txBox="1"/>
          <p:nvPr/>
        </p:nvSpPr>
        <p:spPr>
          <a:xfrm>
            <a:off x="353883" y="550575"/>
            <a:ext cx="10828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학령인구와 고교 진학 흐름은 </a:t>
            </a:r>
            <a:r>
              <a:rPr lang="ko-KR" altLang="en-US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입학성과의 외부 환경</a:t>
            </a:r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을 보여준다</a:t>
            </a:r>
            <a:endParaRPr lang="en-US" altLang="ko-KR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6" name="text-8wc195">
            <a:extLst>
              <a:ext uri="{FF2B5EF4-FFF2-40B4-BE49-F238E27FC236}">
                <a16:creationId xmlns:a16="http://schemas.microsoft.com/office/drawing/2014/main" id="{CA78F80B-9005-1F8F-19F5-C27A577AB3F0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49CEE-246D-339C-7F59-DAEF5FEB4F3F}"/>
              </a:ext>
            </a:extLst>
          </p:cNvPr>
          <p:cNvSpPr txBox="1"/>
          <p:nvPr/>
        </p:nvSpPr>
        <p:spPr>
          <a:xfrm>
            <a:off x="301727" y="5059918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18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세 인구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D3336-6C3F-E49E-11E1-8697C37495B8}"/>
              </a:ext>
            </a:extLst>
          </p:cNvPr>
          <p:cNvSpPr txBox="1"/>
          <p:nvPr/>
        </p:nvSpPr>
        <p:spPr>
          <a:xfrm>
            <a:off x="5905702" y="5063609"/>
            <a:ext cx="270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고교 졸업자의 대학 진학률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9F51C50-CE93-AB86-40A4-990B63FF6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37" y="1687800"/>
            <a:ext cx="4969625" cy="31959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BDE6FBB-5073-635A-5A6B-9E98555B8C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806" y="1687800"/>
            <a:ext cx="4554682" cy="319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17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le-42-136">
            <a:extLst>
              <a:ext uri="{FF2B5EF4-FFF2-40B4-BE49-F238E27FC236}">
                <a16:creationId xmlns:a16="http://schemas.microsoft.com/office/drawing/2014/main" id="{93045DFF-CEBB-4251-9081-4E30E6EDC3E5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sxy4tw">
            <a:extLst>
              <a:ext uri="{FF2B5EF4-FFF2-40B4-BE49-F238E27FC236}">
                <a16:creationId xmlns:a16="http://schemas.microsoft.com/office/drawing/2014/main" id="{8F3B5303-8AC0-4C3D-9809-CCDDB59EB89D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5" name="shape-nhozza">
            <a:extLst>
              <a:ext uri="{FF2B5EF4-FFF2-40B4-BE49-F238E27FC236}">
                <a16:creationId xmlns:a16="http://schemas.microsoft.com/office/drawing/2014/main" id="{AC99F532-D9E6-4061-8CBA-F84EE194D07F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3429000" cy="2861864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-mq9s7p">
            <a:extLst>
              <a:ext uri="{FF2B5EF4-FFF2-40B4-BE49-F238E27FC236}">
                <a16:creationId xmlns:a16="http://schemas.microsoft.com/office/drawing/2014/main" id="{4913B33E-E8B7-48B8-86B9-97F9BEAA8DEA}"/>
              </a:ext>
            </a:extLst>
          </p:cNvPr>
          <p:cNvSpPr>
            <a:spLocks noGrp="1"/>
          </p:cNvSpPr>
          <p:nvPr/>
        </p:nvSpPr>
        <p:spPr>
          <a:xfrm>
            <a:off x="8362950" y="1581150"/>
            <a:ext cx="3429000" cy="2857102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-djewb2">
            <a:extLst>
              <a:ext uri="{FF2B5EF4-FFF2-40B4-BE49-F238E27FC236}">
                <a16:creationId xmlns:a16="http://schemas.microsoft.com/office/drawing/2014/main" id="{40701164-9836-4A03-A6BC-E531B65DE123}"/>
              </a:ext>
            </a:extLst>
          </p:cNvPr>
          <p:cNvSpPr>
            <a:spLocks noGrp="1"/>
          </p:cNvSpPr>
          <p:nvPr/>
        </p:nvSpPr>
        <p:spPr>
          <a:xfrm>
            <a:off x="400050" y="4519214"/>
            <a:ext cx="3429000" cy="1786336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-mbqz9s">
            <a:extLst>
              <a:ext uri="{FF2B5EF4-FFF2-40B4-BE49-F238E27FC236}">
                <a16:creationId xmlns:a16="http://schemas.microsoft.com/office/drawing/2014/main" id="{3E37E64C-ABC3-43D3-8928-D80A1ECC2F23}"/>
              </a:ext>
            </a:extLst>
          </p:cNvPr>
          <p:cNvSpPr>
            <a:spLocks noGrp="1"/>
          </p:cNvSpPr>
          <p:nvPr/>
        </p:nvSpPr>
        <p:spPr>
          <a:xfrm>
            <a:off x="400050" y="4519214"/>
            <a:ext cx="76200" cy="1786336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-5tb82q">
            <a:extLst>
              <a:ext uri="{FF2B5EF4-FFF2-40B4-BE49-F238E27FC236}">
                <a16:creationId xmlns:a16="http://schemas.microsoft.com/office/drawing/2014/main" id="{036CF9C6-1E11-464F-B87F-15507A84D131}"/>
              </a:ext>
            </a:extLst>
          </p:cNvPr>
          <p:cNvSpPr>
            <a:spLocks noGrp="1"/>
          </p:cNvSpPr>
          <p:nvPr/>
        </p:nvSpPr>
        <p:spPr>
          <a:xfrm>
            <a:off x="647700" y="5433614"/>
            <a:ext cx="2971800" cy="842638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취업률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· p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=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0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539</a:t>
            </a: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취업률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: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뚜렷한 선형 관계가 확인되지 않음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3" name="shape-caxewk">
            <a:extLst>
              <a:ext uri="{FF2B5EF4-FFF2-40B4-BE49-F238E27FC236}">
                <a16:creationId xmlns:a16="http://schemas.microsoft.com/office/drawing/2014/main" id="{985D857C-077D-4E59-881B-68DDCB1339CA}"/>
              </a:ext>
            </a:extLst>
          </p:cNvPr>
          <p:cNvSpPr>
            <a:spLocks noGrp="1"/>
          </p:cNvSpPr>
          <p:nvPr/>
        </p:nvSpPr>
        <p:spPr>
          <a:xfrm>
            <a:off x="4381500" y="4514452"/>
            <a:ext cx="3429000" cy="1791098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-6da7td">
            <a:extLst>
              <a:ext uri="{FF2B5EF4-FFF2-40B4-BE49-F238E27FC236}">
                <a16:creationId xmlns:a16="http://schemas.microsoft.com/office/drawing/2014/main" id="{97DD8F57-B898-4F74-A410-731A72A525E5}"/>
              </a:ext>
            </a:extLst>
          </p:cNvPr>
          <p:cNvSpPr>
            <a:spLocks noGrp="1"/>
          </p:cNvSpPr>
          <p:nvPr/>
        </p:nvSpPr>
        <p:spPr>
          <a:xfrm>
            <a:off x="4381500" y="4514452"/>
            <a:ext cx="76200" cy="1791098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mxvoey">
            <a:extLst>
              <a:ext uri="{FF2B5EF4-FFF2-40B4-BE49-F238E27FC236}">
                <a16:creationId xmlns:a16="http://schemas.microsoft.com/office/drawing/2014/main" id="{F2893A39-3B20-45F5-B584-5EB8C373D6ED}"/>
              </a:ext>
            </a:extLst>
          </p:cNvPr>
          <p:cNvSpPr>
            <a:spLocks noGrp="1"/>
          </p:cNvSpPr>
          <p:nvPr/>
        </p:nvSpPr>
        <p:spPr>
          <a:xfrm>
            <a:off x="4672997" y="5433614"/>
            <a:ext cx="2971800" cy="681436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· p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= 0.039</a:t>
            </a: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: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충원율과 약한 양의 상관관계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7" name="shape-da96z0">
            <a:extLst>
              <a:ext uri="{FF2B5EF4-FFF2-40B4-BE49-F238E27FC236}">
                <a16:creationId xmlns:a16="http://schemas.microsoft.com/office/drawing/2014/main" id="{B639C520-2302-4BFA-82D9-04BE5DD9C022}"/>
              </a:ext>
            </a:extLst>
          </p:cNvPr>
          <p:cNvSpPr>
            <a:spLocks noGrp="1"/>
          </p:cNvSpPr>
          <p:nvPr/>
        </p:nvSpPr>
        <p:spPr>
          <a:xfrm>
            <a:off x="8362950" y="4514452"/>
            <a:ext cx="3429000" cy="1791098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-1mtlz4">
            <a:extLst>
              <a:ext uri="{FF2B5EF4-FFF2-40B4-BE49-F238E27FC236}">
                <a16:creationId xmlns:a16="http://schemas.microsoft.com/office/drawing/2014/main" id="{F9A522AB-ED25-4B54-9B2F-C2D06FA772BA}"/>
              </a:ext>
            </a:extLst>
          </p:cNvPr>
          <p:cNvSpPr>
            <a:spLocks noGrp="1"/>
          </p:cNvSpPr>
          <p:nvPr/>
        </p:nvSpPr>
        <p:spPr>
          <a:xfrm>
            <a:off x="8362950" y="4514452"/>
            <a:ext cx="76200" cy="1791098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-j4hk6x">
            <a:extLst>
              <a:ext uri="{FF2B5EF4-FFF2-40B4-BE49-F238E27FC236}">
                <a16:creationId xmlns:a16="http://schemas.microsoft.com/office/drawing/2014/main" id="{526893B0-1275-449E-B3DB-F0292701A0A6}"/>
              </a:ext>
            </a:extLst>
          </p:cNvPr>
          <p:cNvSpPr>
            <a:spLocks noGrp="1"/>
          </p:cNvSpPr>
          <p:nvPr/>
        </p:nvSpPr>
        <p:spPr>
          <a:xfrm>
            <a:off x="8598614" y="5400676"/>
            <a:ext cx="3193336" cy="875576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졸업생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진학률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· p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= 0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.0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32</a:t>
            </a: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졸업생 진학률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: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충원율과 약한 </a:t>
            </a:r>
            <a:endParaRPr lang="en-US" altLang="ko-KR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	          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양의 상관관계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1" name="text-yhv424">
            <a:extLst>
              <a:ext uri="{FF2B5EF4-FFF2-40B4-BE49-F238E27FC236}">
                <a16:creationId xmlns:a16="http://schemas.microsoft.com/office/drawing/2014/main" id="{BB4F0A92-60FB-4310-8BA7-1A983C0C429A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9810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Pearson </a:t>
            </a:r>
            <a:r>
              <a:rPr lang="ko-KR" altLang="en-US" dirty="0"/>
              <a:t>상관분석</a:t>
            </a:r>
            <a:r>
              <a:rPr lang="en-US" altLang="ko-KR" dirty="0"/>
              <a:t>, N=66 | </a:t>
            </a:r>
            <a:r>
              <a:rPr lang="ko-KR" altLang="en-US" dirty="0"/>
              <a:t>경쟁률</a:t>
            </a:r>
            <a:r>
              <a:rPr lang="en-US" altLang="ko-KR" dirty="0"/>
              <a:t>·</a:t>
            </a:r>
            <a:r>
              <a:rPr lang="ko-KR" altLang="en-US" dirty="0"/>
              <a:t>졸업생 진학률은 </a:t>
            </a:r>
            <a:r>
              <a:rPr lang="en-US" altLang="ko-KR" dirty="0"/>
              <a:t>p &lt; .05, </a:t>
            </a:r>
            <a:r>
              <a:rPr lang="ko-KR" altLang="en-US" dirty="0"/>
              <a:t>취업률은 통계적으로 유의하지 않음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CCCCA1-BB1D-237F-6291-21FA236F8583}"/>
              </a:ext>
            </a:extLst>
          </p:cNvPr>
          <p:cNvSpPr txBox="1"/>
          <p:nvPr/>
        </p:nvSpPr>
        <p:spPr>
          <a:xfrm>
            <a:off x="353882" y="581748"/>
            <a:ext cx="1143806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5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취업률과 충원율의 관계는 미약했으며</a:t>
            </a:r>
            <a:r>
              <a:rPr lang="en-US" altLang="ko-KR" sz="245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245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</a:t>
            </a:r>
            <a:r>
              <a:rPr lang="en-US" altLang="ko-KR" sz="245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sz="245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졸업생 진학률은 약한 양의 상관을 보였다</a:t>
            </a:r>
            <a:endParaRPr lang="en-US" altLang="ko-KR" sz="245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4" name="text-8wc195">
            <a:extLst>
              <a:ext uri="{FF2B5EF4-FFF2-40B4-BE49-F238E27FC236}">
                <a16:creationId xmlns:a16="http://schemas.microsoft.com/office/drawing/2014/main" id="{2856B246-127B-00F1-4272-43D98A99C959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E2BA26-6324-4E4E-6C67-8A15D4D8005B}"/>
              </a:ext>
            </a:extLst>
          </p:cNvPr>
          <p:cNvSpPr txBox="1"/>
          <p:nvPr/>
        </p:nvSpPr>
        <p:spPr>
          <a:xfrm>
            <a:off x="570272" y="4748121"/>
            <a:ext cx="2130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r = - 0.077</a:t>
            </a:r>
            <a:endParaRPr lang="ko-KR" altLang="en-US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94EE14-7EC1-C057-C999-93AEB8C64FF6}"/>
              </a:ext>
            </a:extLst>
          </p:cNvPr>
          <p:cNvSpPr txBox="1"/>
          <p:nvPr/>
        </p:nvSpPr>
        <p:spPr>
          <a:xfrm>
            <a:off x="4623402" y="4744064"/>
            <a:ext cx="1851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r = 0.254</a:t>
            </a:r>
            <a:endParaRPr lang="ko-KR" altLang="en-US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46D2FE-6A02-74C2-47FD-3A6F2B2FA645}"/>
              </a:ext>
            </a:extLst>
          </p:cNvPr>
          <p:cNvSpPr txBox="1"/>
          <p:nvPr/>
        </p:nvSpPr>
        <p:spPr>
          <a:xfrm>
            <a:off x="8549020" y="4692075"/>
            <a:ext cx="1851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r = 0.264</a:t>
            </a:r>
            <a:endParaRPr lang="ko-KR" altLang="en-US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8" name="shape-mq9s7p">
            <a:extLst>
              <a:ext uri="{FF2B5EF4-FFF2-40B4-BE49-F238E27FC236}">
                <a16:creationId xmlns:a16="http://schemas.microsoft.com/office/drawing/2014/main" id="{B68D6792-C1FF-925B-0380-9F6E08D6B0BA}"/>
              </a:ext>
            </a:extLst>
          </p:cNvPr>
          <p:cNvSpPr>
            <a:spLocks noGrp="1"/>
          </p:cNvSpPr>
          <p:nvPr/>
        </p:nvSpPr>
        <p:spPr>
          <a:xfrm>
            <a:off x="4381500" y="1576388"/>
            <a:ext cx="3429000" cy="2861864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CD13CF2-21B5-1A41-FF81-FD0788541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83" y="1869778"/>
            <a:ext cx="3242633" cy="229582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3874DC3-9BDD-06FE-61FB-EDAD76A769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699" y="1872639"/>
            <a:ext cx="3243015" cy="229296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DDFF40E-B6E0-3BC8-CB5B-BC779EE274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50" y="1869778"/>
            <a:ext cx="3242633" cy="229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7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le-42-136">
            <a:extLst>
              <a:ext uri="{FF2B5EF4-FFF2-40B4-BE49-F238E27FC236}">
                <a16:creationId xmlns:a16="http://schemas.microsoft.com/office/drawing/2014/main" id="{A77C2376-42FC-4B2D-A6D0-8A6DD1CC0E04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6cc408">
            <a:extLst>
              <a:ext uri="{FF2B5EF4-FFF2-40B4-BE49-F238E27FC236}">
                <a16:creationId xmlns:a16="http://schemas.microsoft.com/office/drawing/2014/main" id="{8166E943-0B31-45E3-97AD-39A1D4C4201F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5" name="shape-tjq3ds">
            <a:extLst>
              <a:ext uri="{FF2B5EF4-FFF2-40B4-BE49-F238E27FC236}">
                <a16:creationId xmlns:a16="http://schemas.microsoft.com/office/drawing/2014/main" id="{ACB5B987-F38C-4E02-A215-12BD0DDF4FC4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2457450" cy="1447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-lvzg3j">
            <a:extLst>
              <a:ext uri="{FF2B5EF4-FFF2-40B4-BE49-F238E27FC236}">
                <a16:creationId xmlns:a16="http://schemas.microsoft.com/office/drawing/2014/main" id="{A6265675-4360-4F01-BDC7-9B85BAAD9FF6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76200" cy="14478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8qvsfr">
            <a:extLst>
              <a:ext uri="{FF2B5EF4-FFF2-40B4-BE49-F238E27FC236}">
                <a16:creationId xmlns:a16="http://schemas.microsoft.com/office/drawing/2014/main" id="{914D5CC6-DD4E-49A6-BCB0-52F4C1E42294}"/>
              </a:ext>
            </a:extLst>
          </p:cNvPr>
          <p:cNvSpPr>
            <a:spLocks noGrp="1"/>
          </p:cNvSpPr>
          <p:nvPr/>
        </p:nvSpPr>
        <p:spPr>
          <a:xfrm>
            <a:off x="647700" y="2438400"/>
            <a:ext cx="2000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수정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R²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=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0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.1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10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9" name="shape-updjoa">
            <a:extLst>
              <a:ext uri="{FF2B5EF4-FFF2-40B4-BE49-F238E27FC236}">
                <a16:creationId xmlns:a16="http://schemas.microsoft.com/office/drawing/2014/main" id="{275EB4AC-55F1-4816-89FB-E1159B9F401B}"/>
              </a:ext>
            </a:extLst>
          </p:cNvPr>
          <p:cNvSpPr>
            <a:spLocks noGrp="1"/>
          </p:cNvSpPr>
          <p:nvPr/>
        </p:nvSpPr>
        <p:spPr>
          <a:xfrm>
            <a:off x="3067050" y="1524000"/>
            <a:ext cx="2457450" cy="1447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-r4c4yv">
            <a:extLst>
              <a:ext uri="{FF2B5EF4-FFF2-40B4-BE49-F238E27FC236}">
                <a16:creationId xmlns:a16="http://schemas.microsoft.com/office/drawing/2014/main" id="{F9685967-4F1B-48BE-B881-01D0FCD941A9}"/>
              </a:ext>
            </a:extLst>
          </p:cNvPr>
          <p:cNvSpPr>
            <a:spLocks noGrp="1"/>
          </p:cNvSpPr>
          <p:nvPr/>
        </p:nvSpPr>
        <p:spPr>
          <a:xfrm>
            <a:off x="3067050" y="1524000"/>
            <a:ext cx="76200" cy="14478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-hp0vyy">
            <a:extLst>
              <a:ext uri="{FF2B5EF4-FFF2-40B4-BE49-F238E27FC236}">
                <a16:creationId xmlns:a16="http://schemas.microsoft.com/office/drawing/2014/main" id="{24203105-073D-4496-BD80-2EBE4DA64D3A}"/>
              </a:ext>
            </a:extLst>
          </p:cNvPr>
          <p:cNvSpPr>
            <a:spLocks noGrp="1"/>
          </p:cNvSpPr>
          <p:nvPr/>
        </p:nvSpPr>
        <p:spPr>
          <a:xfrm>
            <a:off x="3314700" y="2438400"/>
            <a:ext cx="2000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모형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p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=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0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.0</a:t>
            </a:r>
            <a:r>
              <a:rPr 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34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3" name="shape-uluo7r">
            <a:extLst>
              <a:ext uri="{FF2B5EF4-FFF2-40B4-BE49-F238E27FC236}">
                <a16:creationId xmlns:a16="http://schemas.microsoft.com/office/drawing/2014/main" id="{5C4EA571-AA1C-4144-90FF-9742701BD890}"/>
              </a:ext>
            </a:extLst>
          </p:cNvPr>
          <p:cNvSpPr>
            <a:spLocks noGrp="1"/>
          </p:cNvSpPr>
          <p:nvPr/>
        </p:nvSpPr>
        <p:spPr>
          <a:xfrm>
            <a:off x="5734050" y="1524000"/>
            <a:ext cx="2457450" cy="1447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-xakamq">
            <a:extLst>
              <a:ext uri="{FF2B5EF4-FFF2-40B4-BE49-F238E27FC236}">
                <a16:creationId xmlns:a16="http://schemas.microsoft.com/office/drawing/2014/main" id="{F7B82AA3-CFC9-4A0C-9312-694B1C200A4E}"/>
              </a:ext>
            </a:extLst>
          </p:cNvPr>
          <p:cNvSpPr>
            <a:spLocks noGrp="1"/>
          </p:cNvSpPr>
          <p:nvPr/>
        </p:nvSpPr>
        <p:spPr>
          <a:xfrm>
            <a:off x="5734050" y="1524000"/>
            <a:ext cx="76200" cy="1447800"/>
          </a:xfrm>
          <a:prstGeom prst="rect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fw4g18">
            <a:extLst>
              <a:ext uri="{FF2B5EF4-FFF2-40B4-BE49-F238E27FC236}">
                <a16:creationId xmlns:a16="http://schemas.microsoft.com/office/drawing/2014/main" id="{4AB83BB4-7884-452C-84A3-D4C68F17A661}"/>
              </a:ext>
            </a:extLst>
          </p:cNvPr>
          <p:cNvSpPr>
            <a:spLocks noGrp="1"/>
          </p:cNvSpPr>
          <p:nvPr/>
        </p:nvSpPr>
        <p:spPr>
          <a:xfrm>
            <a:off x="5981700" y="2438400"/>
            <a:ext cx="200025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1.309 ~ 1.516</a:t>
            </a: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* </a:t>
            </a:r>
            <a:r>
              <a:rPr lang="ko-KR" altLang="en-US" sz="1200"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다중공선성</a:t>
            </a:r>
            <a:r>
              <a:rPr lang="ko-KR" altLang="en-US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문제 없음</a:t>
            </a:r>
            <a:endParaRPr lang="en-US" altLang="ko-KR" sz="1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7" name="shape-v1w8yu">
            <a:extLst>
              <a:ext uri="{FF2B5EF4-FFF2-40B4-BE49-F238E27FC236}">
                <a16:creationId xmlns:a16="http://schemas.microsoft.com/office/drawing/2014/main" id="{1C258EDE-2BDC-4DAD-8C17-F9FDCD3EB255}"/>
              </a:ext>
            </a:extLst>
          </p:cNvPr>
          <p:cNvSpPr>
            <a:spLocks noGrp="1"/>
          </p:cNvSpPr>
          <p:nvPr/>
        </p:nvSpPr>
        <p:spPr>
          <a:xfrm>
            <a:off x="8420100" y="1524000"/>
            <a:ext cx="3371850" cy="144780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-m1jz9z">
            <a:extLst>
              <a:ext uri="{FF2B5EF4-FFF2-40B4-BE49-F238E27FC236}">
                <a16:creationId xmlns:a16="http://schemas.microsoft.com/office/drawing/2014/main" id="{A580E949-4217-4F83-9162-D1CA4F4692C1}"/>
              </a:ext>
            </a:extLst>
          </p:cNvPr>
          <p:cNvSpPr>
            <a:spLocks noGrp="1"/>
          </p:cNvSpPr>
          <p:nvPr/>
        </p:nvSpPr>
        <p:spPr>
          <a:xfrm>
            <a:off x="8667750" y="2152650"/>
            <a:ext cx="2819400" cy="60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충원율은 특정 단일 지표만으로 설명하기 어려웠다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.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0" name="shape-mc3vyd">
            <a:extLst>
              <a:ext uri="{FF2B5EF4-FFF2-40B4-BE49-F238E27FC236}">
                <a16:creationId xmlns:a16="http://schemas.microsoft.com/office/drawing/2014/main" id="{51041DBB-A5FE-4E2D-8F7E-A5C8694B1C35}"/>
              </a:ext>
            </a:extLst>
          </p:cNvPr>
          <p:cNvSpPr>
            <a:spLocks noGrp="1"/>
          </p:cNvSpPr>
          <p:nvPr/>
        </p:nvSpPr>
        <p:spPr>
          <a:xfrm>
            <a:off x="400050" y="3219450"/>
            <a:ext cx="11391900" cy="29718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q8z7ik">
            <a:extLst>
              <a:ext uri="{FF2B5EF4-FFF2-40B4-BE49-F238E27FC236}">
                <a16:creationId xmlns:a16="http://schemas.microsoft.com/office/drawing/2014/main" id="{C811AE79-09DA-48E8-94A8-BA6AFDD4DEAE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9810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900" dirty="0"/>
              <a:t>종속변수: 정원내 신입생 </a:t>
            </a:r>
            <a:r>
              <a:rPr lang="ko-KR" altLang="ko-KR" sz="900" dirty="0" err="1"/>
              <a:t>충원율</a:t>
            </a:r>
            <a:r>
              <a:rPr lang="en-US" altLang="ko-KR" sz="900" dirty="0"/>
              <a:t>(%)</a:t>
            </a:r>
            <a:r>
              <a:rPr lang="ko-KR" altLang="ko-KR" sz="900" dirty="0"/>
              <a:t> | 연도 </a:t>
            </a:r>
            <a:r>
              <a:rPr lang="ko-KR" altLang="ko-KR" sz="900" dirty="0" err="1"/>
              <a:t>기준범주</a:t>
            </a:r>
            <a:r>
              <a:rPr lang="ko-KR" altLang="ko-KR" sz="900" dirty="0"/>
              <a:t>: 2023년 | 모형 전체는 유의했으나(</a:t>
            </a:r>
            <a:r>
              <a:rPr lang="ko-KR" altLang="ko-KR" sz="900" dirty="0" err="1"/>
              <a:t>p</a:t>
            </a:r>
            <a:r>
              <a:rPr lang="ko-KR" altLang="ko-KR" sz="900" dirty="0"/>
              <a:t>=.034), 개별 설명변수는 모두 5% 수준에서 유의하지 않았다.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59E875-6DB8-80E8-878E-5346F75BF4B5}"/>
              </a:ext>
            </a:extLst>
          </p:cNvPr>
          <p:cNvSpPr txBox="1"/>
          <p:nvPr/>
        </p:nvSpPr>
        <p:spPr>
          <a:xfrm>
            <a:off x="588708" y="173613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R² = 0.178</a:t>
            </a:r>
            <a:endParaRPr lang="ko-KR" altLang="en-US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399F2D-04D2-9962-489D-ADCAB7986729}"/>
              </a:ext>
            </a:extLst>
          </p:cNvPr>
          <p:cNvSpPr txBox="1"/>
          <p:nvPr/>
        </p:nvSpPr>
        <p:spPr>
          <a:xfrm>
            <a:off x="5916869" y="1740924"/>
            <a:ext cx="7889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VIF</a:t>
            </a:r>
            <a:endParaRPr lang="ko-KR" altLang="en-US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55F315-3394-1576-0640-53B950B26EB1}"/>
              </a:ext>
            </a:extLst>
          </p:cNvPr>
          <p:cNvSpPr txBox="1"/>
          <p:nvPr/>
        </p:nvSpPr>
        <p:spPr>
          <a:xfrm>
            <a:off x="3226212" y="1740924"/>
            <a:ext cx="1909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F = 2.601</a:t>
            </a:r>
            <a:endParaRPr lang="ko-KR" altLang="en-US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EAE885-941A-C71B-D982-66AD43EDE2E5}"/>
              </a:ext>
            </a:extLst>
          </p:cNvPr>
          <p:cNvSpPr txBox="1"/>
          <p:nvPr/>
        </p:nvSpPr>
        <p:spPr>
          <a:xfrm>
            <a:off x="353883" y="550575"/>
            <a:ext cx="117599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9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다중 회귀모형 전체는 유의했지만</a:t>
            </a:r>
            <a:r>
              <a:rPr lang="en-US" altLang="ko-KR" sz="29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29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개별 변수의 유의성은 확인되지 않았다</a:t>
            </a:r>
            <a:endParaRPr lang="en-US" altLang="ko-KR" sz="29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37" name="text-8wc195">
            <a:extLst>
              <a:ext uri="{FF2B5EF4-FFF2-40B4-BE49-F238E27FC236}">
                <a16:creationId xmlns:a16="http://schemas.microsoft.com/office/drawing/2014/main" id="{871085E3-A2A7-CC98-C4F9-BE6165784316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E9B3CA-68D2-C911-3367-F95E6F8ED762}"/>
              </a:ext>
            </a:extLst>
          </p:cNvPr>
          <p:cNvSpPr txBox="1"/>
          <p:nvPr/>
        </p:nvSpPr>
        <p:spPr>
          <a:xfrm>
            <a:off x="8579996" y="170818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핵심 해석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498DE69-FED1-CCE7-7764-23B39E5E5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413287"/>
              </p:ext>
            </p:extLst>
          </p:nvPr>
        </p:nvGraphicFramePr>
        <p:xfrm>
          <a:off x="838200" y="3521622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175590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995216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75160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4704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변수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dirty="0" err="1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B</a:t>
                      </a:r>
                      <a:endParaRPr lang="ko-KR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p-value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해석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371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취업률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-0.094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.078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5% 기준 유의하지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734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대학 </a:t>
                      </a:r>
                      <a:r>
                        <a:rPr lang="ko-KR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졸업생 진학률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+0.062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.107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유의하지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726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경쟁률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+0.153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.056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5% </a:t>
                      </a:r>
                      <a:r>
                        <a:rPr lang="ko-KR" altLang="en-US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유의수준에 근접</a:t>
                      </a:r>
                      <a:endParaRPr lang="ko-KR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134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2024년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+0.487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.438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유의하지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31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2025년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+0.656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.319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유의하지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733156"/>
                  </a:ext>
                </a:extLst>
              </a:tr>
            </a:tbl>
          </a:graphicData>
        </a:graphic>
      </p:graphicFrame>
      <p:sp>
        <p:nvSpPr>
          <p:cNvPr id="11" name="text-hp0vyy">
            <a:extLst>
              <a:ext uri="{FF2B5EF4-FFF2-40B4-BE49-F238E27FC236}">
                <a16:creationId xmlns:a16="http://schemas.microsoft.com/office/drawing/2014/main" id="{CA899982-DD0D-7F12-6B00-FBB74449A9E4}"/>
              </a:ext>
            </a:extLst>
          </p:cNvPr>
          <p:cNvSpPr>
            <a:spLocks noGrp="1"/>
          </p:cNvSpPr>
          <p:nvPr/>
        </p:nvSpPr>
        <p:spPr>
          <a:xfrm>
            <a:off x="838200" y="5846904"/>
            <a:ext cx="2000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연도 </a:t>
            </a:r>
            <a:r>
              <a:rPr lang="ko-KR" altLang="en-US" sz="1100"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기준범주</a:t>
            </a:r>
            <a:r>
              <a:rPr lang="ko-KR" altLang="en-US" sz="11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lang="en-US" altLang="ko-KR" sz="11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: 2023</a:t>
            </a:r>
            <a:r>
              <a:rPr lang="ko-KR" altLang="en-US" sz="11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년</a:t>
            </a:r>
            <a:endParaRPr sz="11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624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le-42-136">
            <a:extLst>
              <a:ext uri="{FF2B5EF4-FFF2-40B4-BE49-F238E27FC236}">
                <a16:creationId xmlns:a16="http://schemas.microsoft.com/office/drawing/2014/main" id="{631F0FE4-BFB7-4F95-8C7C-16ADC028378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jhdxdv">
            <a:extLst>
              <a:ext uri="{FF2B5EF4-FFF2-40B4-BE49-F238E27FC236}">
                <a16:creationId xmlns:a16="http://schemas.microsoft.com/office/drawing/2014/main" id="{D44C8C94-84C7-42A1-BC39-D026944167B0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5" name="shape-7y0ebq">
            <a:extLst>
              <a:ext uri="{FF2B5EF4-FFF2-40B4-BE49-F238E27FC236}">
                <a16:creationId xmlns:a16="http://schemas.microsoft.com/office/drawing/2014/main" id="{8F3C10C2-0508-493D-9B50-085D4B30DB42}"/>
              </a:ext>
            </a:extLst>
          </p:cNvPr>
          <p:cNvSpPr>
            <a:spLocks noGrp="1"/>
          </p:cNvSpPr>
          <p:nvPr/>
        </p:nvSpPr>
        <p:spPr>
          <a:xfrm>
            <a:off x="400049" y="1562100"/>
            <a:ext cx="11391899" cy="371475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shape-m6yg7j">
            <a:extLst>
              <a:ext uri="{FF2B5EF4-FFF2-40B4-BE49-F238E27FC236}">
                <a16:creationId xmlns:a16="http://schemas.microsoft.com/office/drawing/2014/main" id="{A63444EB-3D47-43D9-8050-50E7E2E7BADE}"/>
              </a:ext>
            </a:extLst>
          </p:cNvPr>
          <p:cNvSpPr>
            <a:spLocks noGrp="1"/>
          </p:cNvSpPr>
          <p:nvPr/>
        </p:nvSpPr>
        <p:spPr>
          <a:xfrm>
            <a:off x="400050" y="5505450"/>
            <a:ext cx="11391900" cy="62865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text-m8wan1">
            <a:extLst>
              <a:ext uri="{FF2B5EF4-FFF2-40B4-BE49-F238E27FC236}">
                <a16:creationId xmlns:a16="http://schemas.microsoft.com/office/drawing/2014/main" id="{9419CEBE-BE62-4B76-9BE3-70773927EBE1}"/>
              </a:ext>
            </a:extLst>
          </p:cNvPr>
          <p:cNvSpPr>
            <a:spLocks noGrp="1"/>
          </p:cNvSpPr>
          <p:nvPr/>
        </p:nvSpPr>
        <p:spPr>
          <a:xfrm>
            <a:off x="400048" y="6233696"/>
            <a:ext cx="10934701" cy="33855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1100" dirty="0"/>
              <a:t>분류 기준: 평균 </a:t>
            </a:r>
            <a:r>
              <a:rPr lang="ko-KR" altLang="ko-KR" sz="1100" dirty="0" err="1"/>
              <a:t>충원율</a:t>
            </a:r>
            <a:r>
              <a:rPr lang="ko-KR" altLang="ko-KR" sz="1100" dirty="0"/>
              <a:t> 중앙값 99.8% · 평균 경쟁률 중앙값 7.52 · 취업률 상위 25% 67.55% · </a:t>
            </a:r>
            <a:r>
              <a:rPr lang="ko-KR" altLang="ko-KR" sz="1100" dirty="0" err="1"/>
              <a:t>충원율</a:t>
            </a:r>
            <a:r>
              <a:rPr lang="ko-KR" altLang="ko-KR" sz="1100" dirty="0"/>
              <a:t> 변동성 중앙값 0.231 | </a:t>
            </a:r>
            <a:endParaRPr lang="en-US" altLang="ko-KR" sz="1100" dirty="0"/>
          </a:p>
          <a:p>
            <a:pPr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100" dirty="0"/>
              <a:t>              </a:t>
            </a:r>
            <a:r>
              <a:rPr lang="ko-KR" altLang="ko-KR" sz="1100" dirty="0"/>
              <a:t>3개년 대학별 평균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ko-KR" altLang="en-US" sz="1100" dirty="0" err="1"/>
              <a:t>충원율</a:t>
            </a:r>
            <a:r>
              <a:rPr lang="ko-KR" altLang="en-US" sz="1100" dirty="0"/>
              <a:t> </a:t>
            </a:r>
            <a:r>
              <a:rPr lang="ko-KR" altLang="ko-KR" sz="1100" dirty="0"/>
              <a:t>표준편차 활용 | 규칙은 표의 유형 조건 순서에 따라 적용</a:t>
            </a:r>
            <a:endParaRPr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FE0003-AF3B-6327-973B-0E5E67736282}"/>
              </a:ext>
            </a:extLst>
          </p:cNvPr>
          <p:cNvSpPr txBox="1"/>
          <p:nvPr/>
        </p:nvSpPr>
        <p:spPr>
          <a:xfrm>
            <a:off x="353883" y="550575"/>
            <a:ext cx="117294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9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22</a:t>
            </a:r>
            <a:r>
              <a:rPr lang="ko-KR" altLang="en-US" sz="29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 대학은 </a:t>
            </a:r>
            <a:r>
              <a:rPr lang="ko-KR" altLang="en-US" sz="29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입학성과와 대학 특성</a:t>
            </a:r>
            <a:r>
              <a:rPr lang="ko-KR" altLang="en-US" sz="29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에 따라 </a:t>
            </a:r>
            <a:r>
              <a:rPr lang="en-US" altLang="ko-KR" sz="29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6</a:t>
            </a:r>
            <a:r>
              <a:rPr lang="ko-KR" altLang="en-US" sz="29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가지 전략 유형으로 구분</a:t>
            </a:r>
            <a:r>
              <a:rPr lang="ko-KR" altLang="en-US" sz="29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됐다</a:t>
            </a:r>
            <a:endParaRPr lang="en-US" altLang="ko-KR" sz="29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9" name="text-8wc195">
            <a:extLst>
              <a:ext uri="{FF2B5EF4-FFF2-40B4-BE49-F238E27FC236}">
                <a16:creationId xmlns:a16="http://schemas.microsoft.com/office/drawing/2014/main" id="{942EFF88-C17A-2BCE-5B9F-BE9FCDA47B61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072FFF-815F-3E5D-7772-EFD1F7231E13}"/>
              </a:ext>
            </a:extLst>
          </p:cNvPr>
          <p:cNvSpPr txBox="1"/>
          <p:nvPr/>
        </p:nvSpPr>
        <p:spPr>
          <a:xfrm>
            <a:off x="400051" y="5663042"/>
            <a:ext cx="11391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단일 지표 설명의 한계 → 대학별 </a:t>
            </a:r>
            <a:r>
              <a:rPr lang="en-US" altLang="ko-KR" sz="16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3</a:t>
            </a:r>
            <a:r>
              <a:rPr lang="ko-KR" altLang="en-US" sz="16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개년 성과 조합 진단 → </a:t>
            </a:r>
            <a:r>
              <a:rPr lang="en-US" altLang="ko-KR" sz="16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6</a:t>
            </a:r>
            <a:r>
              <a:rPr lang="ko-KR" altLang="en-US" sz="16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개 유형별 차별화 전략 제안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A9D8235-109B-FF16-5127-AF94CD0C7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493571"/>
              </p:ext>
            </p:extLst>
          </p:nvPr>
        </p:nvGraphicFramePr>
        <p:xfrm>
          <a:off x="478709" y="1602672"/>
          <a:ext cx="11143000" cy="3655128"/>
        </p:xfrm>
        <a:graphic>
          <a:graphicData uri="http://schemas.openxmlformats.org/drawingml/2006/table">
            <a:tbl>
              <a:tblPr/>
              <a:tblGrid>
                <a:gridCol w="2046282">
                  <a:extLst>
                    <a:ext uri="{9D8B030D-6E8A-4147-A177-3AD203B41FA5}">
                      <a16:colId xmlns:a16="http://schemas.microsoft.com/office/drawing/2014/main" val="2217944633"/>
                    </a:ext>
                  </a:extLst>
                </a:gridCol>
                <a:gridCol w="2618509">
                  <a:extLst>
                    <a:ext uri="{9D8B030D-6E8A-4147-A177-3AD203B41FA5}">
                      <a16:colId xmlns:a16="http://schemas.microsoft.com/office/drawing/2014/main" val="3649252416"/>
                    </a:ext>
                  </a:extLst>
                </a:gridCol>
                <a:gridCol w="3692459">
                  <a:extLst>
                    <a:ext uri="{9D8B030D-6E8A-4147-A177-3AD203B41FA5}">
                      <a16:colId xmlns:a16="http://schemas.microsoft.com/office/drawing/2014/main" val="1855067556"/>
                    </a:ext>
                  </a:extLst>
                </a:gridCol>
                <a:gridCol w="2785750">
                  <a:extLst>
                    <a:ext uri="{9D8B030D-6E8A-4147-A177-3AD203B41FA5}">
                      <a16:colId xmlns:a16="http://schemas.microsoft.com/office/drawing/2014/main" val="628345631"/>
                    </a:ext>
                  </a:extLst>
                </a:gridCol>
              </a:tblGrid>
              <a:tr h="231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유형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어떻게 분류했나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대학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전략 방향</a:t>
                      </a:r>
                      <a:r>
                        <a:rPr lang="en-US" alt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 (</a:t>
                      </a:r>
                      <a:r>
                        <a:rPr lang="ko-KR" altLang="en-US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제안</a:t>
                      </a:r>
                      <a:r>
                        <a:rPr lang="en-US" alt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)</a:t>
                      </a:r>
                      <a:endParaRPr lang="ko-KR" sz="1500" b="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304327"/>
                  </a:ext>
                </a:extLst>
              </a:tr>
              <a:tr h="405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충원 안정·수요 강세형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충원↑ + 경쟁률↑ + 안정적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서울과기대, 경북대, 충남대, 평택대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현재 강점 유지, </a:t>
                      </a:r>
                      <a:endParaRPr lang="en-US" altLang="ko-KR" sz="1500" b="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모집</a:t>
                      </a:r>
                      <a:r>
                        <a:rPr lang="en-US" alt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 </a:t>
                      </a:r>
                      <a:r>
                        <a:rPr lang="ko-KR" sz="1500" b="0" dirty="0" err="1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경쟁력·브랜드</a:t>
                      </a: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 강화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767395"/>
                  </a:ext>
                </a:extLst>
              </a:tr>
              <a:tr h="405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충원 안정형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충원↑ + 안정적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0" dirty="0" err="1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창신대</a:t>
                      </a:r>
                      <a:r>
                        <a:rPr lang="ko-KR" sz="14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, 서울대, 한남대, 동아대, 경상국립대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안정적 충원을 유지하며 </a:t>
                      </a:r>
                      <a:endParaRPr lang="en-US" altLang="ko-KR" sz="1500" b="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지원 수요 확대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954175"/>
                  </a:ext>
                </a:extLst>
              </a:tr>
              <a:tr h="57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입시 수요 강세형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충원↑ + 경쟁률↑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강서대, 연세대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높은 지원 수요 유지</a:t>
                      </a:r>
                      <a:r>
                        <a:rPr lang="en-US" alt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충원 변동 관리</a:t>
                      </a:r>
                      <a:endParaRPr lang="ko-KR" sz="1500" b="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587306"/>
                  </a:ext>
                </a:extLst>
              </a:tr>
              <a:tr h="57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취업성과 기반 잠재형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취업률 상위 + 충원↓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성균관대, 고려대, </a:t>
                      </a:r>
                      <a:r>
                        <a:rPr lang="ko-KR" sz="1500" b="0" dirty="0" err="1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영산대</a:t>
                      </a:r>
                      <a:endParaRPr lang="ko-KR" sz="1500" b="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취업성과를 입시 홍보·</a:t>
                      </a:r>
                      <a:endParaRPr lang="en-US" altLang="ko-KR" sz="1500" b="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모집</a:t>
                      </a:r>
                      <a:r>
                        <a:rPr lang="en-US" alt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 </a:t>
                      </a: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경쟁력으로 전환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02281"/>
                  </a:ext>
                </a:extLst>
              </a:tr>
              <a:tr h="57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입학성과 보완 필요형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충원↓ + 경쟁률↓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경성대, 울산대, </a:t>
                      </a:r>
                      <a:r>
                        <a:rPr lang="ko-KR" sz="1500" b="0" dirty="0">
                          <a:solidFill>
                            <a:srgbClr val="00B050"/>
                          </a:solidFill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부산외대</a:t>
                      </a: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, 대구대, </a:t>
                      </a:r>
                      <a:r>
                        <a:rPr lang="ko-KR" sz="1500" b="0" dirty="0" err="1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동명대</a:t>
                      </a:r>
                      <a:endParaRPr lang="ko-KR" sz="1500" b="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모집단위별 수요진단, 학과·전형·홍보전략 점검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586376"/>
                  </a:ext>
                </a:extLst>
              </a:tr>
              <a:tr h="571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관찰 필요형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위 조건에 명확히 속하지 않음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부산대, 협성대, 부경대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세부지표를 추가 진단하고 </a:t>
                      </a:r>
                      <a:endParaRPr lang="en-US" altLang="ko-KR" sz="1500" b="0" dirty="0">
                        <a:latin typeface="티웨이_날다" panose="02000300000000000000" pitchFamily="2" charset="-127"/>
                        <a:ea typeface="티웨이_날다" panose="02000300000000000000" pitchFamily="2" charset="-127"/>
                      </a:endParaRPr>
                    </a:p>
                    <a:p>
                      <a:pPr>
                        <a:buNone/>
                      </a:pPr>
                      <a:r>
                        <a:rPr lang="ko-KR" sz="1500" b="0" dirty="0">
                          <a:latin typeface="티웨이_날다" panose="02000300000000000000" pitchFamily="2" charset="-127"/>
                          <a:ea typeface="티웨이_날다" panose="02000300000000000000" pitchFamily="2" charset="-127"/>
                        </a:rPr>
                        <a:t>변화 지속 모니터링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123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86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le-42-136">
            <a:extLst>
              <a:ext uri="{FF2B5EF4-FFF2-40B4-BE49-F238E27FC236}">
                <a16:creationId xmlns:a16="http://schemas.microsoft.com/office/drawing/2014/main" id="{D092B4E7-3260-4AEC-AB47-66FF2DEE445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ufixg4">
            <a:extLst>
              <a:ext uri="{FF2B5EF4-FFF2-40B4-BE49-F238E27FC236}">
                <a16:creationId xmlns:a16="http://schemas.microsoft.com/office/drawing/2014/main" id="{B419AA4B-F618-4CC2-B32D-7E60F850B6B4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5" name="shape-wha0du">
            <a:extLst>
              <a:ext uri="{FF2B5EF4-FFF2-40B4-BE49-F238E27FC236}">
                <a16:creationId xmlns:a16="http://schemas.microsoft.com/office/drawing/2014/main" id="{D70EC935-1B0C-4505-8183-C912F7BC48B5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5410200" cy="2790409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-dxs402">
            <a:extLst>
              <a:ext uri="{FF2B5EF4-FFF2-40B4-BE49-F238E27FC236}">
                <a16:creationId xmlns:a16="http://schemas.microsoft.com/office/drawing/2014/main" id="{612FDE6A-1DAF-49F2-9EC5-9FC5D96F2378}"/>
              </a:ext>
            </a:extLst>
          </p:cNvPr>
          <p:cNvSpPr>
            <a:spLocks noGrp="1"/>
          </p:cNvSpPr>
          <p:nvPr/>
        </p:nvSpPr>
        <p:spPr>
          <a:xfrm>
            <a:off x="5981700" y="1562100"/>
            <a:ext cx="5810250" cy="2790409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mxpgke">
            <a:extLst>
              <a:ext uri="{FF2B5EF4-FFF2-40B4-BE49-F238E27FC236}">
                <a16:creationId xmlns:a16="http://schemas.microsoft.com/office/drawing/2014/main" id="{5630C766-9569-447C-A570-F848FAD950A3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9810750" cy="355221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그림</a:t>
            </a:r>
            <a:r>
              <a:rPr dirty="0"/>
              <a:t> </a:t>
            </a:r>
            <a:r>
              <a:rPr lang="en-US" dirty="0"/>
              <a:t>8-9</a:t>
            </a:r>
            <a:r>
              <a:rPr dirty="0"/>
              <a:t> | </a:t>
            </a:r>
            <a:r>
              <a:rPr lang="ko-KR" altLang="ko-KR" sz="900" dirty="0" err="1"/>
              <a:t>N</a:t>
            </a:r>
            <a:r>
              <a:rPr lang="ko-KR" altLang="ko-KR" sz="900" dirty="0"/>
              <a:t>=66의 소규모 단기 패널로, 미래예측 성능 확정보다 변수의 상대적 예측 기여도와 모형의 일반화 가능성을 탐색하는 수준으로 해석</a:t>
            </a:r>
            <a:endParaRPr lang="en-US" altLang="ko-KR" sz="900" dirty="0"/>
          </a:p>
          <a:p>
            <a:pPr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300" dirty="0"/>
          </a:p>
          <a:p>
            <a:pPr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dirty="0"/>
              <a:t>	(</a:t>
            </a:r>
            <a:r>
              <a:rPr lang="ko-KR" altLang="ko-KR" sz="900" dirty="0" err="1"/>
              <a:t>평가셋</a:t>
            </a:r>
            <a:r>
              <a:rPr lang="ko-KR" altLang="ko-KR" sz="900" dirty="0"/>
              <a:t>: 전체 66개 대학-연도 관측치의 25%를 무작위 분리(</a:t>
            </a:r>
            <a:r>
              <a:rPr lang="ko-KR" altLang="ko-KR" sz="900" dirty="0" err="1"/>
              <a:t>random_state</a:t>
            </a:r>
            <a:r>
              <a:rPr lang="ko-KR" altLang="ko-KR" sz="900" dirty="0"/>
              <a:t>=42)</a:t>
            </a:r>
            <a:r>
              <a:rPr lang="en-US" altLang="ko-KR" sz="900" dirty="0"/>
              <a:t>)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4D38BE-104A-FD81-A8C5-6A436F14196E}"/>
              </a:ext>
            </a:extLst>
          </p:cNvPr>
          <p:cNvSpPr txBox="1"/>
          <p:nvPr/>
        </p:nvSpPr>
        <p:spPr>
          <a:xfrm>
            <a:off x="353883" y="657086"/>
            <a:ext cx="11438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단일 분할에서는 </a:t>
            </a:r>
            <a:r>
              <a:rPr lang="en-US" altLang="ko-KR" sz="20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Random Forest</a:t>
            </a:r>
            <a:r>
              <a:rPr lang="ko-KR" altLang="en-US" sz="20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가 가장 낮은 오차를 보였지만</a:t>
            </a:r>
            <a:r>
              <a:rPr lang="en-US" altLang="ko-KR" sz="20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sz="20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교차검증에서는 </a:t>
            </a:r>
            <a:r>
              <a:rPr lang="ko-KR" altLang="en-US" sz="20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일반화 성능이 제한</a:t>
            </a:r>
            <a:r>
              <a:rPr lang="ko-KR" altLang="en-US" sz="20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됐다</a:t>
            </a:r>
            <a:endParaRPr lang="en-US" altLang="ko-KR" sz="20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6" name="text-8wc195">
            <a:extLst>
              <a:ext uri="{FF2B5EF4-FFF2-40B4-BE49-F238E27FC236}">
                <a16:creationId xmlns:a16="http://schemas.microsoft.com/office/drawing/2014/main" id="{B20B57C5-54FD-55EB-C5AA-29BB1C237A47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FB06E1-7DC0-31AE-C449-53479AE218CB}"/>
              </a:ext>
            </a:extLst>
          </p:cNvPr>
          <p:cNvSpPr txBox="1"/>
          <p:nvPr/>
        </p:nvSpPr>
        <p:spPr>
          <a:xfrm>
            <a:off x="353883" y="4609684"/>
            <a:ext cx="2972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단일 테스트셋 </a:t>
            </a:r>
            <a:r>
              <a:rPr lang="en-US" altLang="ko-KR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 Random Forest</a:t>
            </a:r>
            <a:endParaRPr lang="ko-KR" altLang="en-US" sz="16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4567D-ADBA-CDD8-E417-98A98515A6A2}"/>
              </a:ext>
            </a:extLst>
          </p:cNvPr>
          <p:cNvSpPr txBox="1"/>
          <p:nvPr/>
        </p:nvSpPr>
        <p:spPr>
          <a:xfrm>
            <a:off x="5981700" y="4604744"/>
            <a:ext cx="3802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Random</a:t>
            </a:r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lang="en-US" altLang="ko-KR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Forest</a:t>
            </a:r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lang="en-US" altLang="ko-KR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 </a:t>
            </a:r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변수 중요도 </a:t>
            </a:r>
            <a:r>
              <a:rPr lang="en-US" altLang="ko-KR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(</a:t>
            </a:r>
            <a:r>
              <a:rPr lang="ko-KR" altLang="en-US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단일 분할</a:t>
            </a:r>
            <a:r>
              <a:rPr lang="en-US" altLang="ko-KR" sz="16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)</a:t>
            </a:r>
            <a:endParaRPr lang="ko-KR" altLang="en-US" sz="16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D9DF2C-05D5-AA6D-1E56-29C38D8E5066}"/>
              </a:ext>
            </a:extLst>
          </p:cNvPr>
          <p:cNvSpPr txBox="1"/>
          <p:nvPr/>
        </p:nvSpPr>
        <p:spPr>
          <a:xfrm>
            <a:off x="353883" y="4990742"/>
            <a:ext cx="54563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학습 </a:t>
            </a:r>
            <a:r>
              <a:rPr lang="en-US" altLang="ko-KR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49</a:t>
            </a:r>
            <a:r>
              <a:rPr lang="ko-KR" altLang="en-US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</a:t>
            </a:r>
            <a:r>
              <a:rPr lang="en-US" altLang="ko-KR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(75%) → </a:t>
            </a:r>
            <a:r>
              <a:rPr lang="ko-KR" altLang="en-US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모형 학습 </a:t>
            </a:r>
            <a:r>
              <a:rPr lang="en-US" altLang="ko-KR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| </a:t>
            </a:r>
            <a:r>
              <a:rPr lang="ko-KR" altLang="en-US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평가 </a:t>
            </a:r>
            <a:r>
              <a:rPr lang="en-US" altLang="ko-KR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17</a:t>
            </a:r>
            <a:r>
              <a:rPr lang="ko-KR" altLang="en-US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</a:t>
            </a:r>
            <a:r>
              <a:rPr lang="en-US" altLang="ko-KR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(25%)</a:t>
            </a:r>
          </a:p>
          <a:p>
            <a:r>
              <a:rPr lang="en-US" altLang="ko-KR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→ </a:t>
            </a:r>
            <a:r>
              <a:rPr lang="ko-KR" altLang="en-US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무작위로 분리한 대학</a:t>
            </a:r>
            <a:r>
              <a:rPr lang="en-US" altLang="ko-KR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-</a:t>
            </a:r>
            <a:r>
              <a:rPr lang="ko-KR" altLang="en-US" sz="1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연도 관측치로 성능 평가</a:t>
            </a:r>
            <a:endParaRPr lang="en-US" altLang="ko-KR" sz="1400" dirty="0">
              <a:solidFill>
                <a:srgbClr val="0070C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endParaRPr lang="en-US" altLang="ko-KR" sz="1400" dirty="0">
              <a:solidFill>
                <a:srgbClr val="0070C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r>
              <a:rPr lang="ko-KR" altLang="en-US" sz="14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단일 분할에서는 비교모형 중 가장 낮은 예측오차</a:t>
            </a:r>
            <a:endParaRPr lang="en-US" altLang="ko-KR" sz="14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r>
              <a:rPr lang="pt-BR" altLang="ko-KR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MAE 0.807 · RMSE 1.628 · R² 0.475</a:t>
            </a:r>
            <a:endParaRPr lang="ko-KR" altLang="en-US" sz="14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9DC4D5-4223-5FF6-9A37-7B6D34DC5815}"/>
              </a:ext>
            </a:extLst>
          </p:cNvPr>
          <p:cNvSpPr txBox="1"/>
          <p:nvPr/>
        </p:nvSpPr>
        <p:spPr>
          <a:xfrm>
            <a:off x="5981700" y="4989383"/>
            <a:ext cx="5331909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졸업생 진학률과 경쟁률의 상대적 중요도가 가장 높게 나타남</a:t>
            </a:r>
            <a:endParaRPr lang="en-US" altLang="ko-KR" sz="300" dirty="0">
              <a:solidFill>
                <a:srgbClr val="0070C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※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중요도는 인과효과나 설명력 비율을 의미하지 않음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endParaRPr lang="pt-BR" altLang="ko-KR" sz="300" dirty="0">
              <a:solidFill>
                <a:srgbClr val="0070C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endParaRPr lang="pt-BR" altLang="ko-KR" sz="4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r>
              <a:rPr lang="ko-KR" altLang="en-US" sz="14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교차검증 결과</a:t>
            </a:r>
            <a:endParaRPr lang="pt-BR" altLang="ko-KR" sz="1400" dirty="0">
              <a:solidFill>
                <a:srgbClr val="0070C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r>
              <a:rPr lang="pt-BR" altLang="ko-KR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5-fold CV MAE = 1.041 · CV RMSE = 2.008 · </a:t>
            </a:r>
            <a:r>
              <a:rPr lang="ko-KR" altLang="en-US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평균 </a:t>
            </a:r>
            <a:r>
              <a:rPr lang="pt-BR" altLang="ko-KR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CV R² = -1.485</a:t>
            </a:r>
            <a:endParaRPr lang="ko-KR" altLang="en-US" sz="14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78474D-AE1D-780E-EA78-93A84459FD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65" y="1609624"/>
            <a:ext cx="3654169" cy="26953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61711A-67E7-2616-28DC-A8B0C9AFC4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348" y="1609034"/>
            <a:ext cx="3670972" cy="2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le-42-136">
            <a:extLst>
              <a:ext uri="{FF2B5EF4-FFF2-40B4-BE49-F238E27FC236}">
                <a16:creationId xmlns:a16="http://schemas.microsoft.com/office/drawing/2014/main" id="{D57A8321-D065-4F8D-B37B-1A423FE52780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95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bwxmdg">
            <a:extLst>
              <a:ext uri="{FF2B5EF4-FFF2-40B4-BE49-F238E27FC236}">
                <a16:creationId xmlns:a16="http://schemas.microsoft.com/office/drawing/2014/main" id="{AF462FD2-C0AF-4D9F-B1B1-0E613F440727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1</a:t>
            </a:r>
            <a:r>
              <a:rPr dirty="0"/>
              <a:t>0</a:t>
            </a:r>
          </a:p>
        </p:txBody>
      </p:sp>
      <p:sp>
        <p:nvSpPr>
          <p:cNvPr id="5" name="shape-72scjy">
            <a:extLst>
              <a:ext uri="{FF2B5EF4-FFF2-40B4-BE49-F238E27FC236}">
                <a16:creationId xmlns:a16="http://schemas.microsoft.com/office/drawing/2014/main" id="{E5C5E393-EEC6-450C-A764-C57D69382E56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5562600" cy="36957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-4hnz4l">
            <a:extLst>
              <a:ext uri="{FF2B5EF4-FFF2-40B4-BE49-F238E27FC236}">
                <a16:creationId xmlns:a16="http://schemas.microsoft.com/office/drawing/2014/main" id="{1449F64E-BE0B-4171-BEEE-D80AAAFBAFC4}"/>
              </a:ext>
            </a:extLst>
          </p:cNvPr>
          <p:cNvSpPr>
            <a:spLocks noGrp="1"/>
          </p:cNvSpPr>
          <p:nvPr/>
        </p:nvSpPr>
        <p:spPr>
          <a:xfrm>
            <a:off x="6153150" y="1562100"/>
            <a:ext cx="5638800" cy="36957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osomtb">
            <a:extLst>
              <a:ext uri="{FF2B5EF4-FFF2-40B4-BE49-F238E27FC236}">
                <a16:creationId xmlns:a16="http://schemas.microsoft.com/office/drawing/2014/main" id="{B49371BB-D7E1-4903-9F32-6EBC2C3446C4}"/>
              </a:ext>
            </a:extLst>
          </p:cNvPr>
          <p:cNvSpPr>
            <a:spLocks noGrp="1"/>
          </p:cNvSpPr>
          <p:nvPr/>
        </p:nvSpPr>
        <p:spPr>
          <a:xfrm>
            <a:off x="400050" y="6115051"/>
            <a:ext cx="113919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대학·지역·설립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구분·연도·전략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유형을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한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분석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체계에서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탐색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1" name="text-llbbil">
            <a:extLst>
              <a:ext uri="{FF2B5EF4-FFF2-40B4-BE49-F238E27FC236}">
                <a16:creationId xmlns:a16="http://schemas.microsoft.com/office/drawing/2014/main" id="{4FC6889A-1424-40FF-9F78-5AAC6898C455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9810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그림</a:t>
            </a:r>
            <a:r>
              <a:t> 10</a:t>
            </a:r>
            <a:r>
              <a:rPr lang="en-US"/>
              <a:t>-11</a:t>
            </a:r>
            <a:r>
              <a:t> | Power BI </a:t>
            </a:r>
            <a:r>
              <a:rPr dirty="0" err="1"/>
              <a:t>대시보드용</a:t>
            </a:r>
            <a:r>
              <a:rPr dirty="0"/>
              <a:t> </a:t>
            </a:r>
            <a:r>
              <a:rPr dirty="0" err="1"/>
              <a:t>데이터셋</a:t>
            </a:r>
            <a:r>
              <a:rPr dirty="0"/>
              <a:t> 및 PBIX </a:t>
            </a:r>
            <a:r>
              <a:rPr dirty="0" err="1"/>
              <a:t>산출물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E68E9-8C6A-1C44-F93D-00E31061D45E}"/>
              </a:ext>
            </a:extLst>
          </p:cNvPr>
          <p:cNvSpPr txBox="1"/>
          <p:nvPr/>
        </p:nvSpPr>
        <p:spPr>
          <a:xfrm>
            <a:off x="400050" y="5419701"/>
            <a:ext cx="1139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프로젝트 개요 </a:t>
            </a:r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/ 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입학성과 현황 </a:t>
            </a:r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/ 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지표 관계 </a:t>
            </a:r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/ 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전략 유형 </a:t>
            </a:r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/ 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예측모형</a:t>
            </a:r>
            <a:endParaRPr lang="en-US" altLang="ko-KR" dirty="0">
              <a:solidFill>
                <a:srgbClr val="0070C0"/>
              </a:solidFill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ctr"/>
            <a:endParaRPr lang="en-US" altLang="ko-KR" sz="4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ctr"/>
            <a:r>
              <a:rPr lang="ko-KR" altLang="en-US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분석 범위</a:t>
            </a:r>
            <a:r>
              <a:rPr lang="en-US" altLang="ko-KR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핵심지표 → 대학별 입학성과 비교 → 변수 간 관계 탐색 → </a:t>
            </a:r>
            <a:r>
              <a:rPr lang="en-US" altLang="ko-KR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6</a:t>
            </a:r>
            <a:r>
              <a:rPr lang="ko-KR" altLang="en-US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개 전략 유형 → 예측모형 성능</a:t>
            </a:r>
            <a:r>
              <a:rPr lang="en-US" altLang="ko-KR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sz="14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변수 중요도 비교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78525-9873-3F03-6F08-7DE640EA7273}"/>
              </a:ext>
            </a:extLst>
          </p:cNvPr>
          <p:cNvSpPr txBox="1"/>
          <p:nvPr/>
        </p:nvSpPr>
        <p:spPr>
          <a:xfrm>
            <a:off x="353883" y="550575"/>
            <a:ext cx="8882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분석 결과를 </a:t>
            </a:r>
            <a:r>
              <a:rPr lang="en-US" altLang="ko-KR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Power BI </a:t>
            </a:r>
            <a:r>
              <a:rPr lang="ko-KR" altLang="en-US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대시보드로 통합</a:t>
            </a:r>
            <a:r>
              <a:rPr lang="en-US" altLang="ko-KR" sz="32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sz="3200" dirty="0" err="1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시각화</a:t>
            </a:r>
            <a:r>
              <a:rPr lang="ko-KR" altLang="en-US" sz="3200"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했다</a:t>
            </a:r>
            <a:endParaRPr lang="en-US" altLang="ko-KR" sz="3200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6" name="text-8wc195">
            <a:extLst>
              <a:ext uri="{FF2B5EF4-FFF2-40B4-BE49-F238E27FC236}">
                <a16:creationId xmlns:a16="http://schemas.microsoft.com/office/drawing/2014/main" id="{D8C59D87-A077-9E46-4E59-E429FD71DC3F}"/>
              </a:ext>
            </a:extLst>
          </p:cNvPr>
          <p:cNvSpPr>
            <a:spLocks noGrp="1"/>
          </p:cNvSpPr>
          <p:nvPr/>
        </p:nvSpPr>
        <p:spPr>
          <a:xfrm>
            <a:off x="478709" y="319088"/>
            <a:ext cx="4953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EDUCATION DATA PORTFOLIO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53B2571-C735-7E6F-CF7B-1680A8F9C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09" y="15598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1B71F4-7918-5A87-FC7A-C39F09B6B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257" y="1788809"/>
            <a:ext cx="5534585" cy="31279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6B79BCD-F5B4-328F-4935-FA591DA99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09" y="1788462"/>
            <a:ext cx="5400661" cy="2700331"/>
          </a:xfrm>
          <a:prstGeom prst="rect">
            <a:avLst/>
          </a:prstGeom>
        </p:spPr>
      </p:pic>
      <p:sp>
        <p:nvSpPr>
          <p:cNvPr id="18" name="text-osomtb">
            <a:extLst>
              <a:ext uri="{FF2B5EF4-FFF2-40B4-BE49-F238E27FC236}">
                <a16:creationId xmlns:a16="http://schemas.microsoft.com/office/drawing/2014/main" id="{D82AB8FA-C80A-F1ED-A746-8EEEE7DD5544}"/>
              </a:ext>
            </a:extLst>
          </p:cNvPr>
          <p:cNvSpPr>
            <a:spLocks noGrp="1"/>
          </p:cNvSpPr>
          <p:nvPr/>
        </p:nvSpPr>
        <p:spPr>
          <a:xfrm>
            <a:off x="533402" y="4660212"/>
            <a:ext cx="11391900" cy="483286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※ 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전략점수는 본 연구에서 설정한 입학전략 진단용 지표이며 </a:t>
            </a:r>
            <a:endParaRPr lang="en-US" altLang="ko-KR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>
              <a:defRPr sz="13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   대학 종합평가 순위가 아님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89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sp2ypb">
            <a:extLst>
              <a:ext uri="{FF2B5EF4-FFF2-40B4-BE49-F238E27FC236}">
                <a16:creationId xmlns:a16="http://schemas.microsoft.com/office/drawing/2014/main" id="{FF6E2B90-3C58-4A7A-93C9-7D520B833B73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2476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459A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solidFill>
                  <a:srgbClr val="FF0000"/>
                </a:solidFill>
              </a:rPr>
              <a:t>SYNTHESIS</a:t>
            </a:r>
          </a:p>
        </p:txBody>
      </p:sp>
      <p:sp>
        <p:nvSpPr>
          <p:cNvPr id="3" name="rule-42-300">
            <a:extLst>
              <a:ext uri="{FF2B5EF4-FFF2-40B4-BE49-F238E27FC236}">
                <a16:creationId xmlns:a16="http://schemas.microsoft.com/office/drawing/2014/main" id="{675A2F16-C094-4D2E-9C68-23DE93071D4F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113919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-s5ydml">
            <a:extLst>
              <a:ext uri="{FF2B5EF4-FFF2-40B4-BE49-F238E27FC236}">
                <a16:creationId xmlns:a16="http://schemas.microsoft.com/office/drawing/2014/main" id="{35596445-4E72-42DF-AED9-66D1FB60EA61}"/>
              </a:ext>
            </a:extLst>
          </p:cNvPr>
          <p:cNvSpPr>
            <a:spLocks noGrp="1"/>
          </p:cNvSpPr>
          <p:nvPr/>
        </p:nvSpPr>
        <p:spPr>
          <a:xfrm>
            <a:off x="400050" y="3257550"/>
            <a:ext cx="571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01</a:t>
            </a:r>
          </a:p>
        </p:txBody>
      </p:sp>
      <p:sp>
        <p:nvSpPr>
          <p:cNvPr id="6" name="text-ryj4ba">
            <a:extLst>
              <a:ext uri="{FF2B5EF4-FFF2-40B4-BE49-F238E27FC236}">
                <a16:creationId xmlns:a16="http://schemas.microsoft.com/office/drawing/2014/main" id="{DCA6FF18-9246-4B30-87FE-546AD725F07F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3238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경쟁률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지원자 규모 등 입시 수요 지표를 지속적으로 모니터링</a:t>
            </a:r>
          </a:p>
        </p:txBody>
      </p:sp>
      <p:sp>
        <p:nvSpPr>
          <p:cNvPr id="7" name="text-ptfm1h">
            <a:extLst>
              <a:ext uri="{FF2B5EF4-FFF2-40B4-BE49-F238E27FC236}">
                <a16:creationId xmlns:a16="http://schemas.microsoft.com/office/drawing/2014/main" id="{C19CE35C-9ED8-4494-9EED-780F8803C1E1}"/>
              </a:ext>
            </a:extLst>
          </p:cNvPr>
          <p:cNvSpPr>
            <a:spLocks noGrp="1"/>
          </p:cNvSpPr>
          <p:nvPr/>
        </p:nvSpPr>
        <p:spPr>
          <a:xfrm>
            <a:off x="4191000" y="3257550"/>
            <a:ext cx="571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02</a:t>
            </a:r>
          </a:p>
        </p:txBody>
      </p:sp>
      <p:sp>
        <p:nvSpPr>
          <p:cNvPr id="9" name="text-86u0oa">
            <a:extLst>
              <a:ext uri="{FF2B5EF4-FFF2-40B4-BE49-F238E27FC236}">
                <a16:creationId xmlns:a16="http://schemas.microsoft.com/office/drawing/2014/main" id="{A4833A08-A1A6-45E4-93AF-BDDE7DD94A7D}"/>
              </a:ext>
            </a:extLst>
          </p:cNvPr>
          <p:cNvSpPr>
            <a:spLocks noGrp="1"/>
          </p:cNvSpPr>
          <p:nvPr/>
        </p:nvSpPr>
        <p:spPr>
          <a:xfrm>
            <a:off x="4191000" y="4267200"/>
            <a:ext cx="3238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대학별 입학성과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특성에 맞춰 유지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강화</a:t>
            </a:r>
            <a:r>
              <a:rPr lang="en-US" altLang="ko-KR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보완 전략을 차별화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0" name="text-7qdy4s">
            <a:extLst>
              <a:ext uri="{FF2B5EF4-FFF2-40B4-BE49-F238E27FC236}">
                <a16:creationId xmlns:a16="http://schemas.microsoft.com/office/drawing/2014/main" id="{5402C47D-ADCF-450E-B46A-20FED8318445}"/>
              </a:ext>
            </a:extLst>
          </p:cNvPr>
          <p:cNvSpPr>
            <a:spLocks noGrp="1"/>
          </p:cNvSpPr>
          <p:nvPr/>
        </p:nvSpPr>
        <p:spPr>
          <a:xfrm>
            <a:off x="7981950" y="3257550"/>
            <a:ext cx="571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티웨이_날다" panose="02000300000000000000" pitchFamily="2" charset="-127"/>
                <a:ea typeface="티웨이_날다" panose="02000300000000000000" pitchFamily="2" charset="-127"/>
              </a:rPr>
              <a:t>03</a:t>
            </a:r>
          </a:p>
        </p:txBody>
      </p:sp>
      <p:sp>
        <p:nvSpPr>
          <p:cNvPr id="12" name="text-8jyn5b">
            <a:extLst>
              <a:ext uri="{FF2B5EF4-FFF2-40B4-BE49-F238E27FC236}">
                <a16:creationId xmlns:a16="http://schemas.microsoft.com/office/drawing/2014/main" id="{2F43F265-9BFC-43C2-8640-820F3535C1DA}"/>
              </a:ext>
            </a:extLst>
          </p:cNvPr>
          <p:cNvSpPr>
            <a:spLocks noGrp="1"/>
          </p:cNvSpPr>
          <p:nvPr/>
        </p:nvSpPr>
        <p:spPr>
          <a:xfrm>
            <a:off x="7981950" y="4267200"/>
            <a:ext cx="3238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전국·장기·모집단위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데이터와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학생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수준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endParaRPr lang="en-US"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  <a:p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변수를</a:t>
            </a:r>
            <a:r>
              <a:rPr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 </a:t>
            </a:r>
            <a:r>
              <a:rPr dirty="0" err="1">
                <a:latin typeface="티웨이_날다" panose="02000300000000000000" pitchFamily="2" charset="-127"/>
                <a:ea typeface="티웨이_날다" panose="02000300000000000000" pitchFamily="2" charset="-127"/>
              </a:rPr>
              <a:t>추가</a:t>
            </a:r>
            <a:endParaRPr dirty="0">
              <a:latin typeface="티웨이_날다" panose="02000300000000000000" pitchFamily="2" charset="-127"/>
              <a:ea typeface="티웨이_날다" panose="02000300000000000000" pitchFamily="2" charset="-127"/>
            </a:endParaRPr>
          </a:p>
        </p:txBody>
      </p:sp>
      <p:sp>
        <p:nvSpPr>
          <p:cNvPr id="13" name="shape-zife5p">
            <a:extLst>
              <a:ext uri="{FF2B5EF4-FFF2-40B4-BE49-F238E27FC236}">
                <a16:creationId xmlns:a16="http://schemas.microsoft.com/office/drawing/2014/main" id="{A0822E41-B50A-48B0-B7C1-1EB1580C0227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11391900" cy="666750"/>
          </a:xfrm>
          <a:prstGeom prst="rect">
            <a:avLst/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jqff8n">
            <a:extLst>
              <a:ext uri="{FF2B5EF4-FFF2-40B4-BE49-F238E27FC236}">
                <a16:creationId xmlns:a16="http://schemas.microsoft.com/office/drawing/2014/main" id="{81054BF6-E627-4E18-9A56-1A71136651B9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78105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github.com/Jaewoong237/education-admission-data-project</a:t>
            </a:r>
          </a:p>
        </p:txBody>
      </p:sp>
      <p:sp>
        <p:nvSpPr>
          <p:cNvPr id="16" name="text-v65hn6">
            <a:extLst>
              <a:ext uri="{FF2B5EF4-FFF2-40B4-BE49-F238E27FC236}">
                <a16:creationId xmlns:a16="http://schemas.microsoft.com/office/drawing/2014/main" id="{22095ABB-522B-447D-A5E0-68DB3826A586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4572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E9E552-2357-34A5-9D50-5D0C5D43C121}"/>
              </a:ext>
            </a:extLst>
          </p:cNvPr>
          <p:cNvSpPr txBox="1"/>
          <p:nvPr/>
        </p:nvSpPr>
        <p:spPr>
          <a:xfrm>
            <a:off x="400050" y="5459998"/>
            <a:ext cx="1139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한계 </a:t>
            </a:r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 22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개 대학 </a:t>
            </a:r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× 3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개년의 대학 단위 집계자료로</a:t>
            </a:r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결과는 인과관계가 아닌 기초적</a:t>
            </a:r>
            <a:r>
              <a:rPr lang="en-US" altLang="ko-KR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탐색적 분석으로 해석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DBABE5-803A-9BD7-0EE9-FB7B9150C332}"/>
              </a:ext>
            </a:extLst>
          </p:cNvPr>
          <p:cNvSpPr txBox="1"/>
          <p:nvPr/>
        </p:nvSpPr>
        <p:spPr>
          <a:xfrm>
            <a:off x="357509" y="1209393"/>
            <a:ext cx="101697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충원율은 </a:t>
            </a:r>
            <a:r>
              <a:rPr lang="ko-KR" altLang="en-US" sz="4000" dirty="0">
                <a:solidFill>
                  <a:srgbClr val="FF000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단일 지표보다 </a:t>
            </a:r>
            <a:r>
              <a:rPr lang="ko-KR" altLang="en-US" sz="40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입시 수요</a:t>
            </a:r>
            <a:r>
              <a:rPr lang="en-US" altLang="ko-KR" sz="40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</a:p>
          <a:p>
            <a:r>
              <a:rPr lang="ko-KR" altLang="en-US" sz="40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성과</a:t>
            </a:r>
            <a:r>
              <a:rPr lang="en-US" altLang="ko-KR" sz="40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·</a:t>
            </a:r>
            <a:r>
              <a:rPr lang="ko-KR" altLang="en-US" sz="4000" dirty="0">
                <a:solidFill>
                  <a:srgbClr val="0070C0"/>
                </a:solidFill>
                <a:latin typeface="티웨이_날다" panose="02000300000000000000" pitchFamily="2" charset="-127"/>
                <a:ea typeface="티웨이_날다" panose="02000300000000000000" pitchFamily="2" charset="-127"/>
              </a:rPr>
              <a:t>대학 특성을 함께 고려</a:t>
            </a:r>
            <a:r>
              <a:rPr lang="ko-KR" altLang="en-US" sz="4000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할 필요가 있다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035899-9717-28F0-BC9E-06AC94135D74}"/>
              </a:ext>
            </a:extLst>
          </p:cNvPr>
          <p:cNvSpPr txBox="1"/>
          <p:nvPr/>
        </p:nvSpPr>
        <p:spPr>
          <a:xfrm>
            <a:off x="314886" y="3639164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수요 지표 관리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9E0306-43B2-4898-08AA-53FD61550699}"/>
              </a:ext>
            </a:extLst>
          </p:cNvPr>
          <p:cNvSpPr txBox="1"/>
          <p:nvPr/>
        </p:nvSpPr>
        <p:spPr>
          <a:xfrm>
            <a:off x="4069788" y="3613348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유형별 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462454-2D7F-69D7-62D5-6FA754004CAA}"/>
              </a:ext>
            </a:extLst>
          </p:cNvPr>
          <p:cNvSpPr txBox="1"/>
          <p:nvPr/>
        </p:nvSpPr>
        <p:spPr>
          <a:xfrm>
            <a:off x="7880402" y="3596446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티웨이_날다" panose="02000300000000000000" pitchFamily="2" charset="-127"/>
                <a:ea typeface="티웨이_날다" panose="02000300000000000000" pitchFamily="2" charset="-127"/>
              </a:rPr>
              <a:t>연구 확장</a:t>
            </a:r>
          </a:p>
        </p:txBody>
      </p:sp>
    </p:spTree>
    <p:extLst>
      <p:ext uri="{BB962C8B-B14F-4D97-AF65-F5344CB8AC3E}">
        <p14:creationId xmlns:p14="http://schemas.microsoft.com/office/powerpoint/2010/main" val="19733411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1297</Words>
  <Application>Microsoft Office PowerPoint</Application>
  <PresentationFormat>와이드스크린</PresentationFormat>
  <Paragraphs>257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티웨이_날다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주재웅</cp:lastModifiedBy>
  <cp:revision>10</cp:revision>
  <dcterms:created xsi:type="dcterms:W3CDTF">2026-07-16T05:02:39Z</dcterms:created>
  <dcterms:modified xsi:type="dcterms:W3CDTF">2026-08-26T05:17:55Z</dcterms:modified>
  <cp:version/>
</cp:coreProperties>
</file>