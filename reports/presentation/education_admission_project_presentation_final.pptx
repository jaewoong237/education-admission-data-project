
<file path=[Content_Types].xml><?xml version="1.0" encoding="utf-8"?>
<Types xmlns="http://schemas.openxmlformats.org/package/2006/content-types">
  <Default Extension="bmp" ContentType="image/bmp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91" y="149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4" name="Slide Image Placeholder"/>
          <p:cNvSpPr>
            <a:spLocks noGrp="1" noRot="1" noChangeAspect="1" noTextEdi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bm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C7F9A5D3-37FA-4BA6-8F9D-9A2717306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7" name="shape-q27uyw">
            <a:extLst>
              <a:ext uri="{FF2B5EF4-FFF2-40B4-BE49-F238E27FC236}">
                <a16:creationId xmlns:a16="http://schemas.microsoft.com/office/drawing/2014/main" id="{F7BED6AB-01B7-48A4-8955-579BFB98E7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text-cm0rx1">
            <a:extLst>
              <a:ext uri="{FF2B5EF4-FFF2-40B4-BE49-F238E27FC236}">
                <a16:creationId xmlns:a16="http://schemas.microsoft.com/office/drawing/2014/main" id="{5DAFE4E9-B62F-47A1-89B3-129F16B4BD0E}"/>
              </a:ext>
            </a:extLst>
          </p:cNvPr>
          <p:cNvSpPr>
            <a:spLocks noGrp="1"/>
          </p:cNvSpPr>
          <p:nvPr/>
        </p:nvSpPr>
        <p:spPr>
          <a:xfrm>
            <a:off x="552450" y="438150"/>
            <a:ext cx="4953000" cy="285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3" name="text-5gws6n">
            <a:extLst>
              <a:ext uri="{FF2B5EF4-FFF2-40B4-BE49-F238E27FC236}">
                <a16:creationId xmlns:a16="http://schemas.microsoft.com/office/drawing/2014/main" id="{AC1DF6AD-CED7-48CB-AE47-EC5A0AF8A4D9}"/>
              </a:ext>
            </a:extLst>
          </p:cNvPr>
          <p:cNvSpPr>
            <a:spLocks noGrp="1"/>
          </p:cNvSpPr>
          <p:nvPr/>
        </p:nvSpPr>
        <p:spPr>
          <a:xfrm>
            <a:off x="552450" y="1619250"/>
            <a:ext cx="9620250" cy="285750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defRPr sz="4350" b="1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4" name="rule-58-507">
            <a:extLst>
              <a:ext uri="{FF2B5EF4-FFF2-40B4-BE49-F238E27FC236}">
                <a16:creationId xmlns:a16="http://schemas.microsoft.com/office/drawing/2014/main" id="{23DC11DB-4FC8-49E2-858D-7BB2A6947199}"/>
              </a:ext>
            </a:extLst>
          </p:cNvPr>
          <p:cNvSpPr>
            <a:spLocks noGrp="1"/>
          </p:cNvSpPr>
          <p:nvPr/>
        </p:nvSpPr>
        <p:spPr>
          <a:xfrm>
            <a:off x="552450" y="4829175"/>
            <a:ext cx="106680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-qgy9pj"/>
          <p:cNvSpPr>
            <a:spLocks noGrp="1"/>
          </p:cNvSpPr>
          <p:nvPr/>
        </p:nvSpPr>
        <p:spPr>
          <a:xfrm>
            <a:off x="641706" y="5143500"/>
            <a:ext cx="72390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lvl="0" algn="l">
              <a:defRPr sz="1650" b="0">
                <a:solidFill>
                  <a:srgbClr val="5E6673"/>
                </a:solidFill>
                <a:latin typeface="맑은 고딕"/>
                <a:ea typeface="맑은 고딕"/>
                <a:cs typeface="맑은 고딕"/>
              </a:defRPr>
            </a:pPr>
            <a:r>
              <a:rPr>
                <a:latin typeface="티웨이_날다"/>
                <a:ea typeface="티웨이_날다"/>
              </a:rPr>
              <a:t>2023–2025 · 22개 대학 · 66개 대학-연도 관측치</a:t>
            </a:r>
          </a:p>
        </p:txBody>
      </p:sp>
      <p:sp>
        <p:nvSpPr>
          <p:cNvPr id="6" name="text-zw41lh">
            <a:extLst>
              <a:ext uri="{FF2B5EF4-FFF2-40B4-BE49-F238E27FC236}">
                <a16:creationId xmlns:a16="http://schemas.microsoft.com/office/drawing/2014/main" id="{A65EB2C5-C89C-427E-A829-3D07CB1582F6}"/>
              </a:ext>
            </a:extLst>
          </p:cNvPr>
          <p:cNvSpPr>
            <a:spLocks noGrp="1"/>
          </p:cNvSpPr>
          <p:nvPr/>
        </p:nvSpPr>
        <p:spPr>
          <a:xfrm>
            <a:off x="552450" y="5886450"/>
            <a:ext cx="6858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sz="16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150E4D-2B5B-DA2A-30DE-C170FC5F9C28}"/>
              </a:ext>
            </a:extLst>
          </p:cNvPr>
          <p:cNvSpPr txBox="1"/>
          <p:nvPr/>
        </p:nvSpPr>
        <p:spPr>
          <a:xfrm>
            <a:off x="552450" y="2410242"/>
            <a:ext cx="791496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교육 빅데이터를 활용한
</a:t>
            </a:r>
            <a:r>
              <a:rPr lang="ko-KR" altLang="en-US" sz="4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입학성과 분석 </a:t>
            </a:r>
            <a:r>
              <a:rPr lang="ko-KR" altLang="en-US" sz="4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및
</a:t>
            </a:r>
            <a:r>
              <a:rPr lang="ko-KR" altLang="en-US" sz="4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입시 전략 인사이트 </a:t>
            </a:r>
            <a:r>
              <a:rPr lang="ko-KR" altLang="en-US" sz="4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도출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994014-E8A1-5F78-8DFB-E52D90E4EFC8}"/>
              </a:ext>
            </a:extLst>
          </p:cNvPr>
          <p:cNvSpPr txBox="1"/>
          <p:nvPr/>
        </p:nvSpPr>
        <p:spPr>
          <a:xfrm>
            <a:off x="552450" y="6048375"/>
            <a:ext cx="4528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부산외국어대학교 </a:t>
            </a:r>
            <a:r>
              <a:rPr lang="ko-KR" altLang="en-US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빅데이터전공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4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학년 주재웅</a:t>
            </a:r>
          </a:p>
        </p:txBody>
      </p:sp>
    </p:spTree>
    <p:extLst>
      <p:ext uri="{BB962C8B-B14F-4D97-AF65-F5344CB8AC3E}">
        <p14:creationId xmlns:p14="http://schemas.microsoft.com/office/powerpoint/2010/main" val="174248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-8wc195">
            <a:extLst>
              <a:ext uri="{FF2B5EF4-FFF2-40B4-BE49-F238E27FC236}">
                <a16:creationId xmlns:a16="http://schemas.microsoft.com/office/drawing/2014/main" id="{5ABC9875-6930-4BCE-A30B-3B2DF5956581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3" name="rule-42-136">
            <a:extLst>
              <a:ext uri="{FF2B5EF4-FFF2-40B4-BE49-F238E27FC236}">
                <a16:creationId xmlns:a16="http://schemas.microsoft.com/office/drawing/2014/main" id="{955752F5-DEA8-47DC-B3F0-1CB8D5CA606A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dm0h12">
            <a:extLst>
              <a:ext uri="{FF2B5EF4-FFF2-40B4-BE49-F238E27FC236}">
                <a16:creationId xmlns:a16="http://schemas.microsoft.com/office/drawing/2014/main" id="{87721D8E-4E8B-4FF4-B032-9306C862DBE9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  <p:sp>
        <p:nvSpPr>
          <p:cNvPr id="6" name="text-3varxf">
            <a:extLst>
              <a:ext uri="{FF2B5EF4-FFF2-40B4-BE49-F238E27FC236}">
                <a16:creationId xmlns:a16="http://schemas.microsoft.com/office/drawing/2014/main" id="{FCC2DBFC-24D9-4057-822E-A29690D0A18C}"/>
              </a:ext>
            </a:extLst>
          </p:cNvPr>
          <p:cNvSpPr>
            <a:spLocks noGrp="1"/>
          </p:cNvSpPr>
          <p:nvPr/>
        </p:nvSpPr>
        <p:spPr>
          <a:xfrm>
            <a:off x="562048" y="2130527"/>
            <a:ext cx="3990975" cy="1333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7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입시제도와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교육환경이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빠르게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변하면서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7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경험만으로는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학생들의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고민을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충분히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7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지원하기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어렵다는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문제의식에서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출발했다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</a:p>
        </p:txBody>
      </p:sp>
      <p:sp>
        <p:nvSpPr>
          <p:cNvPr id="7" name="shape-4pshr1">
            <a:extLst>
              <a:ext uri="{FF2B5EF4-FFF2-40B4-BE49-F238E27FC236}">
                <a16:creationId xmlns:a16="http://schemas.microsoft.com/office/drawing/2014/main" id="{8EE5CA00-ABFD-40EA-9D40-B310A8AE6742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4000500" cy="175260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-t66sfn">
            <a:extLst>
              <a:ext uri="{FF2B5EF4-FFF2-40B4-BE49-F238E27FC236}">
                <a16:creationId xmlns:a16="http://schemas.microsoft.com/office/drawing/2014/main" id="{6EA81690-80C7-45D3-8B76-5C79CF226CDF}"/>
              </a:ext>
            </a:extLst>
          </p:cNvPr>
          <p:cNvSpPr>
            <a:spLocks noGrp="1"/>
          </p:cNvSpPr>
          <p:nvPr/>
        </p:nvSpPr>
        <p:spPr>
          <a:xfrm>
            <a:off x="669205" y="4462924"/>
            <a:ext cx="3333750" cy="944819"/>
          </a:xfrm>
          <a:prstGeom prst="rect">
            <a:avLst/>
          </a:prstGeom>
        </p:spPr>
        <p:txBody>
          <a:bodyPr wrap="square" lIns="0" tIns="0" rIns="0" bIns="0" anchor="t">
            <a:normAutofit fontScale="96327"/>
          </a:bodyPr>
          <a:lstStyle/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공공데이터로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입학성과를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진단하고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전략과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학생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맞춤형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설계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연구로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확장할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수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있는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기반을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마련한다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</a:p>
        </p:txBody>
      </p:sp>
      <p:sp>
        <p:nvSpPr>
          <p:cNvPr id="10" name="rule-510-176">
            <a:extLst>
              <a:ext uri="{FF2B5EF4-FFF2-40B4-BE49-F238E27FC236}">
                <a16:creationId xmlns:a16="http://schemas.microsoft.com/office/drawing/2014/main" id="{1E86A8EE-CB89-489B-AB81-5AB625862490}"/>
              </a:ext>
            </a:extLst>
          </p:cNvPr>
          <p:cNvSpPr>
            <a:spLocks noGrp="1"/>
          </p:cNvSpPr>
          <p:nvPr/>
        </p:nvSpPr>
        <p:spPr>
          <a:xfrm>
            <a:off x="4857750" y="1676400"/>
            <a:ext cx="9525" cy="4095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awn21w">
            <a:extLst>
              <a:ext uri="{FF2B5EF4-FFF2-40B4-BE49-F238E27FC236}">
                <a16:creationId xmlns:a16="http://schemas.microsoft.com/office/drawing/2014/main" id="{420B69F9-6F32-424A-AFE7-9F0692B3A553}"/>
              </a:ext>
            </a:extLst>
          </p:cNvPr>
          <p:cNvSpPr>
            <a:spLocks noGrp="1"/>
          </p:cNvSpPr>
          <p:nvPr/>
        </p:nvSpPr>
        <p:spPr>
          <a:xfrm>
            <a:off x="5276850" y="22098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01</a:t>
            </a:r>
          </a:p>
        </p:txBody>
      </p:sp>
      <p:sp>
        <p:nvSpPr>
          <p:cNvPr id="13" name="text-9t8coa">
            <a:extLst>
              <a:ext uri="{FF2B5EF4-FFF2-40B4-BE49-F238E27FC236}">
                <a16:creationId xmlns:a16="http://schemas.microsoft.com/office/drawing/2014/main" id="{4E37BFEC-5509-47F6-9EF0-C212AF57A14A}"/>
              </a:ext>
            </a:extLst>
          </p:cNvPr>
          <p:cNvSpPr>
            <a:spLocks noGrp="1"/>
          </p:cNvSpPr>
          <p:nvPr/>
        </p:nvSpPr>
        <p:spPr>
          <a:xfrm>
            <a:off x="5905500" y="2190750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학령인구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고교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지표와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충원율의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관계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4" name="rule-554-280">
            <a:extLst>
              <a:ext uri="{FF2B5EF4-FFF2-40B4-BE49-F238E27FC236}">
                <a16:creationId xmlns:a16="http://schemas.microsoft.com/office/drawing/2014/main" id="{227D05B6-DEB3-4B78-B742-6C96510E725B}"/>
              </a:ext>
            </a:extLst>
          </p:cNvPr>
          <p:cNvSpPr>
            <a:spLocks noGrp="1"/>
          </p:cNvSpPr>
          <p:nvPr/>
        </p:nvSpPr>
        <p:spPr>
          <a:xfrm>
            <a:off x="5276850" y="26670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-b0igg5">
            <a:extLst>
              <a:ext uri="{FF2B5EF4-FFF2-40B4-BE49-F238E27FC236}">
                <a16:creationId xmlns:a16="http://schemas.microsoft.com/office/drawing/2014/main" id="{4CFE8511-9547-4E72-A791-16391BEA3100}"/>
              </a:ext>
            </a:extLst>
          </p:cNvPr>
          <p:cNvSpPr>
            <a:spLocks noGrp="1"/>
          </p:cNvSpPr>
          <p:nvPr/>
        </p:nvSpPr>
        <p:spPr>
          <a:xfrm>
            <a:off x="5276850" y="29337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02</a:t>
            </a:r>
          </a:p>
        </p:txBody>
      </p:sp>
      <p:sp>
        <p:nvSpPr>
          <p:cNvPr id="17" name="rule-554-356">
            <a:extLst>
              <a:ext uri="{FF2B5EF4-FFF2-40B4-BE49-F238E27FC236}">
                <a16:creationId xmlns:a16="http://schemas.microsoft.com/office/drawing/2014/main" id="{E811E7D9-0115-49A8-9FFE-EC64809EE622}"/>
              </a:ext>
            </a:extLst>
          </p:cNvPr>
          <p:cNvSpPr>
            <a:spLocks noGrp="1"/>
          </p:cNvSpPr>
          <p:nvPr/>
        </p:nvSpPr>
        <p:spPr>
          <a:xfrm>
            <a:off x="5276850" y="33909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-9ut6zx">
            <a:extLst>
              <a:ext uri="{FF2B5EF4-FFF2-40B4-BE49-F238E27FC236}">
                <a16:creationId xmlns:a16="http://schemas.microsoft.com/office/drawing/2014/main" id="{BC6C549E-14A0-4A24-91F6-5F5D697012D7}"/>
              </a:ext>
            </a:extLst>
          </p:cNvPr>
          <p:cNvSpPr>
            <a:spLocks noGrp="1"/>
          </p:cNvSpPr>
          <p:nvPr/>
        </p:nvSpPr>
        <p:spPr>
          <a:xfrm>
            <a:off x="5276850" y="36576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03</a:t>
            </a:r>
          </a:p>
        </p:txBody>
      </p:sp>
      <p:sp>
        <p:nvSpPr>
          <p:cNvPr id="19" name="text-7n6e6d">
            <a:extLst>
              <a:ext uri="{FF2B5EF4-FFF2-40B4-BE49-F238E27FC236}">
                <a16:creationId xmlns:a16="http://schemas.microsoft.com/office/drawing/2014/main" id="{7ED65FFF-97FF-45BE-B195-E35BF7FD5593}"/>
              </a:ext>
            </a:extLst>
          </p:cNvPr>
          <p:cNvSpPr>
            <a:spLocks noGrp="1"/>
          </p:cNvSpPr>
          <p:nvPr/>
        </p:nvSpPr>
        <p:spPr>
          <a:xfrm>
            <a:off x="5905500" y="3638550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대학별 입학성과 유형화와 전략 인사이트</a:t>
            </a:r>
          </a:p>
        </p:txBody>
      </p:sp>
      <p:sp>
        <p:nvSpPr>
          <p:cNvPr id="20" name="rule-554-432">
            <a:extLst>
              <a:ext uri="{FF2B5EF4-FFF2-40B4-BE49-F238E27FC236}">
                <a16:creationId xmlns:a16="http://schemas.microsoft.com/office/drawing/2014/main" id="{3EC66EA9-00E8-4217-B33E-42CF0E18E7F5}"/>
              </a:ext>
            </a:extLst>
          </p:cNvPr>
          <p:cNvSpPr>
            <a:spLocks noGrp="1"/>
          </p:cNvSpPr>
          <p:nvPr/>
        </p:nvSpPr>
        <p:spPr>
          <a:xfrm>
            <a:off x="5276850" y="41148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-yvqc1m">
            <a:extLst>
              <a:ext uri="{FF2B5EF4-FFF2-40B4-BE49-F238E27FC236}">
                <a16:creationId xmlns:a16="http://schemas.microsoft.com/office/drawing/2014/main" id="{B611FD60-285E-4883-82AA-7E108AB76D3B}"/>
              </a:ext>
            </a:extLst>
          </p:cNvPr>
          <p:cNvSpPr>
            <a:spLocks noGrp="1"/>
          </p:cNvSpPr>
          <p:nvPr/>
        </p:nvSpPr>
        <p:spPr>
          <a:xfrm>
            <a:off x="5276850" y="43815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04</a:t>
            </a:r>
          </a:p>
        </p:txBody>
      </p:sp>
      <p:sp>
        <p:nvSpPr>
          <p:cNvPr id="22" name="text-88pjas">
            <a:extLst>
              <a:ext uri="{FF2B5EF4-FFF2-40B4-BE49-F238E27FC236}">
                <a16:creationId xmlns:a16="http://schemas.microsoft.com/office/drawing/2014/main" id="{6C75B855-EF58-4FE8-B535-02AA74DB34E2}"/>
              </a:ext>
            </a:extLst>
          </p:cNvPr>
          <p:cNvSpPr>
            <a:spLocks noGrp="1"/>
          </p:cNvSpPr>
          <p:nvPr/>
        </p:nvSpPr>
        <p:spPr>
          <a:xfrm>
            <a:off x="5905500" y="4362450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신입생 충원율 예측모형과 주요 요인</a:t>
            </a:r>
          </a:p>
        </p:txBody>
      </p:sp>
      <p:sp>
        <p:nvSpPr>
          <p:cNvPr id="23" name="rule-554-508">
            <a:extLst>
              <a:ext uri="{FF2B5EF4-FFF2-40B4-BE49-F238E27FC236}">
                <a16:creationId xmlns:a16="http://schemas.microsoft.com/office/drawing/2014/main" id="{46F3F06F-6959-4C35-8250-62D757C764A0}"/>
              </a:ext>
            </a:extLst>
          </p:cNvPr>
          <p:cNvSpPr>
            <a:spLocks noGrp="1"/>
          </p:cNvSpPr>
          <p:nvPr/>
        </p:nvSpPr>
        <p:spPr>
          <a:xfrm>
            <a:off x="5276850" y="48387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-70r790">
            <a:extLst>
              <a:ext uri="{FF2B5EF4-FFF2-40B4-BE49-F238E27FC236}">
                <a16:creationId xmlns:a16="http://schemas.microsoft.com/office/drawing/2014/main" id="{3B863E57-6534-4B7A-8D73-7B43BCF9313E}"/>
              </a:ext>
            </a:extLst>
          </p:cNvPr>
          <p:cNvSpPr>
            <a:spLocks noGrp="1"/>
          </p:cNvSpPr>
          <p:nvPr/>
        </p:nvSpPr>
        <p:spPr>
          <a:xfrm>
            <a:off x="5276850" y="51054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05</a:t>
            </a:r>
          </a:p>
        </p:txBody>
      </p:sp>
      <p:sp>
        <p:nvSpPr>
          <p:cNvPr id="25" name="text-omn9kb">
            <a:extLst>
              <a:ext uri="{FF2B5EF4-FFF2-40B4-BE49-F238E27FC236}">
                <a16:creationId xmlns:a16="http://schemas.microsoft.com/office/drawing/2014/main" id="{A2EEB159-9F8C-417A-9344-38A60901F5A2}"/>
              </a:ext>
            </a:extLst>
          </p:cNvPr>
          <p:cNvSpPr>
            <a:spLocks noGrp="1"/>
          </p:cNvSpPr>
          <p:nvPr/>
        </p:nvSpPr>
        <p:spPr>
          <a:xfrm>
            <a:off x="5905500" y="5086350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Power BI 대시보드와 통합 인사이트</a:t>
            </a:r>
          </a:p>
        </p:txBody>
      </p:sp>
      <p:sp>
        <p:nvSpPr>
          <p:cNvPr id="26" name="rule-554-584">
            <a:extLst>
              <a:ext uri="{FF2B5EF4-FFF2-40B4-BE49-F238E27FC236}">
                <a16:creationId xmlns:a16="http://schemas.microsoft.com/office/drawing/2014/main" id="{3320F629-75E8-48F4-81C0-062E2D1B0837}"/>
              </a:ext>
            </a:extLst>
          </p:cNvPr>
          <p:cNvSpPr>
            <a:spLocks noGrp="1"/>
          </p:cNvSpPr>
          <p:nvPr/>
        </p:nvSpPr>
        <p:spPr>
          <a:xfrm>
            <a:off x="5276850" y="55626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-2b0tv9">
            <a:extLst>
              <a:ext uri="{FF2B5EF4-FFF2-40B4-BE49-F238E27FC236}">
                <a16:creationId xmlns:a16="http://schemas.microsoft.com/office/drawing/2014/main" id="{4C6045C9-9906-4153-BCDB-AA14B6C6DED7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/>
              <a:t>연구</a:t>
            </a:r>
            <a:r>
              <a:rPr dirty="0"/>
              <a:t> </a:t>
            </a:r>
            <a:r>
              <a:rPr dirty="0" err="1"/>
              <a:t>배경</a:t>
            </a:r>
            <a:r>
              <a:rPr dirty="0"/>
              <a:t> 및 </a:t>
            </a:r>
            <a:r>
              <a:rPr dirty="0" err="1"/>
              <a:t>연구문제</a:t>
            </a:r>
            <a:r>
              <a:rPr dirty="0"/>
              <a:t>: </a:t>
            </a:r>
            <a:r>
              <a:rPr dirty="0" err="1"/>
              <a:t>최종보고서</a:t>
            </a:r>
            <a:r>
              <a:rPr dirty="0"/>
              <a:t> 제1장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1C192C-2D84-C499-CC73-7152220147A0}"/>
              </a:ext>
            </a:extLst>
          </p:cNvPr>
          <p:cNvSpPr txBox="1"/>
          <p:nvPr/>
        </p:nvSpPr>
        <p:spPr>
          <a:xfrm>
            <a:off x="353883" y="550575"/>
            <a:ext cx="114842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충원율을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무엇이 설명하고</a:t>
            </a:r>
            <a:r>
              <a:rPr lang="en-US" altLang="ko-KR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결과를 전략으로 어떻게 전환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할 것인가</a:t>
            </a:r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?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E0CD38-A951-1694-D76F-7F03CDAC7AD8}"/>
              </a:ext>
            </a:extLst>
          </p:cNvPr>
          <p:cNvSpPr txBox="1"/>
          <p:nvPr/>
        </p:nvSpPr>
        <p:spPr>
          <a:xfrm>
            <a:off x="580717" y="408115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목표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03B9C5-9BA7-4E42-2CE3-975C3D5C78DE}"/>
              </a:ext>
            </a:extLst>
          </p:cNvPr>
          <p:cNvSpPr txBox="1"/>
          <p:nvPr/>
        </p:nvSpPr>
        <p:spPr>
          <a:xfrm>
            <a:off x="473868" y="1636606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연구 출발점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B0D504-D3CC-4022-45AA-17AA6DCD1A13}"/>
              </a:ext>
            </a:extLst>
          </p:cNvPr>
          <p:cNvSpPr txBox="1"/>
          <p:nvPr/>
        </p:nvSpPr>
        <p:spPr>
          <a:xfrm>
            <a:off x="5201520" y="1644741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5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 연구문제</a:t>
            </a:r>
          </a:p>
        </p:txBody>
      </p:sp>
      <p:sp>
        <p:nvSpPr>
          <p:cNvPr id="37" name="text-9t8coa">
            <a:extLst>
              <a:ext uri="{FF2B5EF4-FFF2-40B4-BE49-F238E27FC236}">
                <a16:creationId xmlns:a16="http://schemas.microsoft.com/office/drawing/2014/main" id="{2983BD92-F095-E03D-581E-4788E2B73B95}"/>
              </a:ext>
            </a:extLst>
          </p:cNvPr>
          <p:cNvSpPr>
            <a:spLocks noGrp="1"/>
          </p:cNvSpPr>
          <p:nvPr/>
        </p:nvSpPr>
        <p:spPr>
          <a:xfrm>
            <a:off x="5905499" y="2924175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취업성과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졸업생 진학률과 충원율의 관계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8541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51FD2554-8072-4C24-A5E5-81935D70D908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52dl2f">
            <a:extLst>
              <a:ext uri="{FF2B5EF4-FFF2-40B4-BE49-F238E27FC236}">
                <a16:creationId xmlns:a16="http://schemas.microsoft.com/office/drawing/2014/main" id="{1B61FE67-FB31-4AE9-A0B7-1FE871992FD0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03</a:t>
            </a:r>
          </a:p>
        </p:txBody>
      </p:sp>
      <p:sp>
        <p:nvSpPr>
          <p:cNvPr id="5" name="shape-iwnz98">
            <a:extLst>
              <a:ext uri="{FF2B5EF4-FFF2-40B4-BE49-F238E27FC236}">
                <a16:creationId xmlns:a16="http://schemas.microsoft.com/office/drawing/2014/main" id="{2611C71A-F8D0-46DB-B24D-2877334E188F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-iew6e9">
            <a:extLst>
              <a:ext uri="{FF2B5EF4-FFF2-40B4-BE49-F238E27FC236}">
                <a16:creationId xmlns:a16="http://schemas.microsoft.com/office/drawing/2014/main" id="{7C6B4BA5-8545-44CD-AC1C-D0F861FFF278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-57lm67">
            <a:extLst>
              <a:ext uri="{FF2B5EF4-FFF2-40B4-BE49-F238E27FC236}">
                <a16:creationId xmlns:a16="http://schemas.microsoft.com/office/drawing/2014/main" id="{7D24701B-7296-4DE0-9F88-3903F2682F51}"/>
              </a:ext>
            </a:extLst>
          </p:cNvPr>
          <p:cNvSpPr>
            <a:spLocks noGrp="1"/>
          </p:cNvSpPr>
          <p:nvPr/>
        </p:nvSpPr>
        <p:spPr>
          <a:xfrm>
            <a:off x="647700" y="25336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대상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9" name="shape-yplm49">
            <a:extLst>
              <a:ext uri="{FF2B5EF4-FFF2-40B4-BE49-F238E27FC236}">
                <a16:creationId xmlns:a16="http://schemas.microsoft.com/office/drawing/2014/main" id="{AB9ACD07-99E8-4F2E-8269-1D213E96E502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-kp764n">
            <a:extLst>
              <a:ext uri="{FF2B5EF4-FFF2-40B4-BE49-F238E27FC236}">
                <a16:creationId xmlns:a16="http://schemas.microsoft.com/office/drawing/2014/main" id="{4B044858-7BA8-4501-BCF5-B2FA07D693E1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2akw5u">
            <a:extLst>
              <a:ext uri="{FF2B5EF4-FFF2-40B4-BE49-F238E27FC236}">
                <a16:creationId xmlns:a16="http://schemas.microsoft.com/office/drawing/2014/main" id="{882F9F03-AB42-46BC-9FFF-5B6501D7737C}"/>
              </a:ext>
            </a:extLst>
          </p:cNvPr>
          <p:cNvSpPr>
            <a:spLocks noGrp="1"/>
          </p:cNvSpPr>
          <p:nvPr/>
        </p:nvSpPr>
        <p:spPr>
          <a:xfrm>
            <a:off x="4629150" y="25336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2023–2025년</a:t>
            </a:r>
          </a:p>
        </p:txBody>
      </p:sp>
      <p:sp>
        <p:nvSpPr>
          <p:cNvPr id="13" name="shape-jdco0b">
            <a:extLst>
              <a:ext uri="{FF2B5EF4-FFF2-40B4-BE49-F238E27FC236}">
                <a16:creationId xmlns:a16="http://schemas.microsoft.com/office/drawing/2014/main" id="{825E3108-2520-4A8B-AA99-631BF52F0D70}"/>
              </a:ext>
            </a:extLst>
          </p:cNvPr>
          <p:cNvSpPr>
            <a:spLocks noGrp="1"/>
          </p:cNvSpPr>
          <p:nvPr/>
        </p:nvSpPr>
        <p:spPr>
          <a:xfrm>
            <a:off x="8362950" y="16192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7cg3a9">
            <a:extLst>
              <a:ext uri="{FF2B5EF4-FFF2-40B4-BE49-F238E27FC236}">
                <a16:creationId xmlns:a16="http://schemas.microsoft.com/office/drawing/2014/main" id="{9141F952-55A2-44E9-A74D-062A4BA8B4BB}"/>
              </a:ext>
            </a:extLst>
          </p:cNvPr>
          <p:cNvSpPr>
            <a:spLocks noGrp="1"/>
          </p:cNvSpPr>
          <p:nvPr/>
        </p:nvSpPr>
        <p:spPr>
          <a:xfrm>
            <a:off x="8362950" y="161925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-vr078n">
            <a:extLst>
              <a:ext uri="{FF2B5EF4-FFF2-40B4-BE49-F238E27FC236}">
                <a16:creationId xmlns:a16="http://schemas.microsoft.com/office/drawing/2014/main" id="{A41834C5-1F8B-4BBB-94F1-314C8C24A316}"/>
              </a:ext>
            </a:extLst>
          </p:cNvPr>
          <p:cNvSpPr>
            <a:spLocks noGrp="1"/>
          </p:cNvSpPr>
          <p:nvPr/>
        </p:nvSpPr>
        <p:spPr>
          <a:xfrm>
            <a:off x="8610600" y="25336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대학-연도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관측치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8" name="text-t6s57z">
            <a:extLst>
              <a:ext uri="{FF2B5EF4-FFF2-40B4-BE49-F238E27FC236}">
                <a16:creationId xmlns:a16="http://schemas.microsoft.com/office/drawing/2014/main" id="{071CD3BC-C323-4A16-9D0D-6C08F1B2BCF3}"/>
              </a:ext>
            </a:extLst>
          </p:cNvPr>
          <p:cNvSpPr>
            <a:spLocks noGrp="1"/>
          </p:cNvSpPr>
          <p:nvPr/>
        </p:nvSpPr>
        <p:spPr>
          <a:xfrm>
            <a:off x="2190750" y="3448050"/>
            <a:ext cx="93345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대학알리미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·  KOSIS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국가통계포털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· 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교육통계서비스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9" name="rule-100-494">
            <a:extLst>
              <a:ext uri="{FF2B5EF4-FFF2-40B4-BE49-F238E27FC236}">
                <a16:creationId xmlns:a16="http://schemas.microsoft.com/office/drawing/2014/main" id="{3149237D-9EB2-4E57-AEA1-C0E319F93568}"/>
              </a:ext>
            </a:extLst>
          </p:cNvPr>
          <p:cNvSpPr>
            <a:spLocks noGrp="1"/>
          </p:cNvSpPr>
          <p:nvPr/>
        </p:nvSpPr>
        <p:spPr>
          <a:xfrm>
            <a:off x="952500" y="4705350"/>
            <a:ext cx="10287000" cy="2857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-m1bl23">
            <a:extLst>
              <a:ext uri="{FF2B5EF4-FFF2-40B4-BE49-F238E27FC236}">
                <a16:creationId xmlns:a16="http://schemas.microsoft.com/office/drawing/2014/main" id="{EB66DC55-C229-4474-96B9-5A6457D553ED}"/>
              </a:ext>
            </a:extLst>
          </p:cNvPr>
          <p:cNvSpPr>
            <a:spLocks noGrp="1"/>
          </p:cNvSpPr>
          <p:nvPr/>
        </p:nvSpPr>
        <p:spPr>
          <a:xfrm>
            <a:off x="400050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text-zltxmn">
            <a:extLst>
              <a:ext uri="{FF2B5EF4-FFF2-40B4-BE49-F238E27FC236}">
                <a16:creationId xmlns:a16="http://schemas.microsoft.com/office/drawing/2014/main" id="{385B71C0-DD92-41BD-B6F5-EA13A2504165}"/>
              </a:ext>
            </a:extLst>
          </p:cNvPr>
          <p:cNvSpPr>
            <a:spLocks noGrp="1"/>
          </p:cNvSpPr>
          <p:nvPr/>
        </p:nvSpPr>
        <p:spPr>
          <a:xfrm>
            <a:off x="495300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원자료 확보</a:t>
            </a:r>
          </a:p>
        </p:txBody>
      </p:sp>
      <p:sp>
        <p:nvSpPr>
          <p:cNvPr id="23" name="shape-xbmnvu">
            <a:extLst>
              <a:ext uri="{FF2B5EF4-FFF2-40B4-BE49-F238E27FC236}">
                <a16:creationId xmlns:a16="http://schemas.microsoft.com/office/drawing/2014/main" id="{7C7593EA-1B11-4B77-9EF0-43E902A217AC}"/>
              </a:ext>
            </a:extLst>
          </p:cNvPr>
          <p:cNvSpPr>
            <a:spLocks noGrp="1"/>
          </p:cNvSpPr>
          <p:nvPr/>
        </p:nvSpPr>
        <p:spPr>
          <a:xfrm>
            <a:off x="2295525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-dovm0q">
            <a:extLst>
              <a:ext uri="{FF2B5EF4-FFF2-40B4-BE49-F238E27FC236}">
                <a16:creationId xmlns:a16="http://schemas.microsoft.com/office/drawing/2014/main" id="{CC5F54E1-4607-4F02-BCEC-FE4D8FC90673}"/>
              </a:ext>
            </a:extLst>
          </p:cNvPr>
          <p:cNvSpPr>
            <a:spLocks noGrp="1"/>
          </p:cNvSpPr>
          <p:nvPr/>
        </p:nvSpPr>
        <p:spPr>
          <a:xfrm>
            <a:off x="2390775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대학·연도 정합</a:t>
            </a:r>
          </a:p>
        </p:txBody>
      </p:sp>
      <p:sp>
        <p:nvSpPr>
          <p:cNvPr id="26" name="shape-5z8m1a">
            <a:extLst>
              <a:ext uri="{FF2B5EF4-FFF2-40B4-BE49-F238E27FC236}">
                <a16:creationId xmlns:a16="http://schemas.microsoft.com/office/drawing/2014/main" id="{C37FC0E3-4FA4-46BD-A2CB-F95CA0B47AB4}"/>
              </a:ext>
            </a:extLst>
          </p:cNvPr>
          <p:cNvSpPr>
            <a:spLocks noGrp="1"/>
          </p:cNvSpPr>
          <p:nvPr/>
        </p:nvSpPr>
        <p:spPr>
          <a:xfrm>
            <a:off x="4191000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-6an8gj">
            <a:extLst>
              <a:ext uri="{FF2B5EF4-FFF2-40B4-BE49-F238E27FC236}">
                <a16:creationId xmlns:a16="http://schemas.microsoft.com/office/drawing/2014/main" id="{1CF7BF5D-B66C-4184-9B0F-033DAB041C1B}"/>
              </a:ext>
            </a:extLst>
          </p:cNvPr>
          <p:cNvSpPr>
            <a:spLocks noGrp="1"/>
          </p:cNvSpPr>
          <p:nvPr/>
        </p:nvSpPr>
        <p:spPr>
          <a:xfrm>
            <a:off x="4286250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패널데이터 구축</a:t>
            </a:r>
          </a:p>
        </p:txBody>
      </p:sp>
      <p:sp>
        <p:nvSpPr>
          <p:cNvPr id="29" name="shape-pzcww3">
            <a:extLst>
              <a:ext uri="{FF2B5EF4-FFF2-40B4-BE49-F238E27FC236}">
                <a16:creationId xmlns:a16="http://schemas.microsoft.com/office/drawing/2014/main" id="{4D829BAC-679F-45A5-AC2C-F8770A370E0B}"/>
              </a:ext>
            </a:extLst>
          </p:cNvPr>
          <p:cNvSpPr>
            <a:spLocks noGrp="1"/>
          </p:cNvSpPr>
          <p:nvPr/>
        </p:nvSpPr>
        <p:spPr>
          <a:xfrm>
            <a:off x="6086475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-i7t9zg">
            <a:extLst>
              <a:ext uri="{FF2B5EF4-FFF2-40B4-BE49-F238E27FC236}">
                <a16:creationId xmlns:a16="http://schemas.microsoft.com/office/drawing/2014/main" id="{117F59AE-2DC2-472E-AEB4-1E58CDC1041D}"/>
              </a:ext>
            </a:extLst>
          </p:cNvPr>
          <p:cNvSpPr>
            <a:spLocks noGrp="1"/>
          </p:cNvSpPr>
          <p:nvPr/>
        </p:nvSpPr>
        <p:spPr>
          <a:xfrm>
            <a:off x="6181725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EDA·상관·회귀</a:t>
            </a:r>
          </a:p>
        </p:txBody>
      </p:sp>
      <p:sp>
        <p:nvSpPr>
          <p:cNvPr id="32" name="shape-zq7q0g">
            <a:extLst>
              <a:ext uri="{FF2B5EF4-FFF2-40B4-BE49-F238E27FC236}">
                <a16:creationId xmlns:a16="http://schemas.microsoft.com/office/drawing/2014/main" id="{CD508B69-D254-4646-B29B-7E7ABCC8B96B}"/>
              </a:ext>
            </a:extLst>
          </p:cNvPr>
          <p:cNvSpPr>
            <a:spLocks noGrp="1"/>
          </p:cNvSpPr>
          <p:nvPr/>
        </p:nvSpPr>
        <p:spPr>
          <a:xfrm>
            <a:off x="7981950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-7e5om8">
            <a:extLst>
              <a:ext uri="{FF2B5EF4-FFF2-40B4-BE49-F238E27FC236}">
                <a16:creationId xmlns:a16="http://schemas.microsoft.com/office/drawing/2014/main" id="{BFEB9F8A-AFF9-4E8A-AF0B-ECFE7CF8224C}"/>
              </a:ext>
            </a:extLst>
          </p:cNvPr>
          <p:cNvSpPr>
            <a:spLocks noGrp="1"/>
          </p:cNvSpPr>
          <p:nvPr/>
        </p:nvSpPr>
        <p:spPr>
          <a:xfrm>
            <a:off x="8077200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유형화·예측</a:t>
            </a:r>
          </a:p>
        </p:txBody>
      </p:sp>
      <p:sp>
        <p:nvSpPr>
          <p:cNvPr id="35" name="shape-dtk5r7">
            <a:extLst>
              <a:ext uri="{FF2B5EF4-FFF2-40B4-BE49-F238E27FC236}">
                <a16:creationId xmlns:a16="http://schemas.microsoft.com/office/drawing/2014/main" id="{F873251C-B4CE-4ACA-9733-F9A16DC425E2}"/>
              </a:ext>
            </a:extLst>
          </p:cNvPr>
          <p:cNvSpPr>
            <a:spLocks noGrp="1"/>
          </p:cNvSpPr>
          <p:nvPr/>
        </p:nvSpPr>
        <p:spPr>
          <a:xfrm>
            <a:off x="9877425" y="4305300"/>
            <a:ext cx="1428750" cy="800100"/>
          </a:xfrm>
          <a:prstGeom prst="rect">
            <a:avLst/>
          </a:prstGeom>
          <a:solidFill>
            <a:srgbClr val="D7ECFB"/>
          </a:solidFill>
          <a:ln w="0">
            <a:solidFill>
              <a:srgbClr val="D7EC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-6haxex">
            <a:extLst>
              <a:ext uri="{FF2B5EF4-FFF2-40B4-BE49-F238E27FC236}">
                <a16:creationId xmlns:a16="http://schemas.microsoft.com/office/drawing/2014/main" id="{AC601C3B-5D93-4A49-B35C-9B29B03FC25B}"/>
              </a:ext>
            </a:extLst>
          </p:cNvPr>
          <p:cNvSpPr>
            <a:spLocks noGrp="1"/>
          </p:cNvSpPr>
          <p:nvPr/>
        </p:nvSpPr>
        <p:spPr>
          <a:xfrm>
            <a:off x="9972675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SPSS·Power BI</a:t>
            </a:r>
          </a:p>
        </p:txBody>
      </p:sp>
      <p:sp>
        <p:nvSpPr>
          <p:cNvPr id="38" name="text-huf184">
            <a:extLst>
              <a:ext uri="{FF2B5EF4-FFF2-40B4-BE49-F238E27FC236}">
                <a16:creationId xmlns:a16="http://schemas.microsoft.com/office/drawing/2014/main" id="{776CFBAD-20D5-4AFD-985E-8EBC09C6EEF8}"/>
              </a:ext>
            </a:extLst>
          </p:cNvPr>
          <p:cNvSpPr>
            <a:spLocks noGrp="1"/>
          </p:cNvSpPr>
          <p:nvPr/>
        </p:nvSpPr>
        <p:spPr>
          <a:xfrm>
            <a:off x="400050" y="5638800"/>
            <a:ext cx="104775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Python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중심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SPSS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검증용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SAV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구축 및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Python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독립 재현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Power BI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시각화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GitHub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재현성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관리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9" name="text-dhbhte">
            <a:extLst>
              <a:ext uri="{FF2B5EF4-FFF2-40B4-BE49-F238E27FC236}">
                <a16:creationId xmlns:a16="http://schemas.microsoft.com/office/drawing/2014/main" id="{9628860F-AE25-4B7B-840E-3A8C7B8A8299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자료 구조 및 분석 방법: 최종보고서 제2장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E8F71F-E6FE-1DF9-0F29-91D1B16D4996}"/>
              </a:ext>
            </a:extLst>
          </p:cNvPr>
          <p:cNvSpPr txBox="1"/>
          <p:nvPr/>
        </p:nvSpPr>
        <p:spPr>
          <a:xfrm>
            <a:off x="353883" y="550575"/>
            <a:ext cx="10655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세 기관의 공공 데이터를 </a:t>
            </a:r>
            <a:r>
              <a:rPr lang="en-US" altLang="ko-KR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22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 대학의 패널 데이터로 통합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했다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44" name="text-8wc195">
            <a:extLst>
              <a:ext uri="{FF2B5EF4-FFF2-40B4-BE49-F238E27FC236}">
                <a16:creationId xmlns:a16="http://schemas.microsoft.com/office/drawing/2014/main" id="{2FA95FA7-066A-565A-1BD5-4FEE3CA883A3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EDEC6A-AC0B-4A87-8447-0C492538E4EC}"/>
              </a:ext>
            </a:extLst>
          </p:cNvPr>
          <p:cNvSpPr txBox="1"/>
          <p:nvPr/>
        </p:nvSpPr>
        <p:spPr>
          <a:xfrm>
            <a:off x="552450" y="1853625"/>
            <a:ext cx="10310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22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1E95A-D151-CDD8-4ABF-6F435DFF93BD}"/>
              </a:ext>
            </a:extLst>
          </p:cNvPr>
          <p:cNvSpPr txBox="1"/>
          <p:nvPr/>
        </p:nvSpPr>
        <p:spPr>
          <a:xfrm>
            <a:off x="4543118" y="1849725"/>
            <a:ext cx="1175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3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8033739-908C-CC8B-92A0-4EDB92112DDA}"/>
              </a:ext>
            </a:extLst>
          </p:cNvPr>
          <p:cNvSpPr txBox="1"/>
          <p:nvPr/>
        </p:nvSpPr>
        <p:spPr>
          <a:xfrm>
            <a:off x="8512280" y="1853624"/>
            <a:ext cx="10310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66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24B1BE-8273-C66A-53F1-B60D80BAA185}"/>
              </a:ext>
            </a:extLst>
          </p:cNvPr>
          <p:cNvSpPr txBox="1"/>
          <p:nvPr/>
        </p:nvSpPr>
        <p:spPr>
          <a:xfrm>
            <a:off x="494379" y="3383833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데이터 출처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84603F-8131-0172-01EA-1DEF140D8F8A}"/>
              </a:ext>
            </a:extLst>
          </p:cNvPr>
          <p:cNvSpPr txBox="1"/>
          <p:nvPr/>
        </p:nvSpPr>
        <p:spPr>
          <a:xfrm>
            <a:off x="832937" y="4371975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수집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2C7F194-2070-B0DB-4259-76E1325F0897}"/>
              </a:ext>
            </a:extLst>
          </p:cNvPr>
          <p:cNvSpPr txBox="1"/>
          <p:nvPr/>
        </p:nvSpPr>
        <p:spPr>
          <a:xfrm>
            <a:off x="2633835" y="4366796"/>
            <a:ext cx="7521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전처리</a:t>
            </a:r>
            <a:endParaRPr lang="ko-KR" altLang="en-US" sz="16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1E7CDE-DE35-0990-F208-D8BC1FF9CA8B}"/>
              </a:ext>
            </a:extLst>
          </p:cNvPr>
          <p:cNvSpPr txBox="1"/>
          <p:nvPr/>
        </p:nvSpPr>
        <p:spPr>
          <a:xfrm>
            <a:off x="4619471" y="4371975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통합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D9A998-2B1A-008C-13FF-0F3E127FC24E}"/>
              </a:ext>
            </a:extLst>
          </p:cNvPr>
          <p:cNvSpPr txBox="1"/>
          <p:nvPr/>
        </p:nvSpPr>
        <p:spPr>
          <a:xfrm>
            <a:off x="6519362" y="4376936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61584E-CD7D-D2BD-8E61-8839F47B47AE}"/>
              </a:ext>
            </a:extLst>
          </p:cNvPr>
          <p:cNvSpPr txBox="1"/>
          <p:nvPr/>
        </p:nvSpPr>
        <p:spPr>
          <a:xfrm>
            <a:off x="8414837" y="4371975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확장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D04104-919E-C30B-594B-D389EAF8B324}"/>
              </a:ext>
            </a:extLst>
          </p:cNvPr>
          <p:cNvSpPr txBox="1"/>
          <p:nvPr/>
        </p:nvSpPr>
        <p:spPr>
          <a:xfrm>
            <a:off x="10305703" y="4366796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전달</a:t>
            </a:r>
          </a:p>
        </p:txBody>
      </p:sp>
    </p:spTree>
    <p:extLst>
      <p:ext uri="{BB962C8B-B14F-4D97-AF65-F5344CB8AC3E}">
        <p14:creationId xmlns:p14="http://schemas.microsoft.com/office/powerpoint/2010/main" val="225953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BA1FD5F5-6E8C-4412-9768-C31060440717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4tq1d6">
            <a:extLst>
              <a:ext uri="{FF2B5EF4-FFF2-40B4-BE49-F238E27FC236}">
                <a16:creationId xmlns:a16="http://schemas.microsoft.com/office/drawing/2014/main" id="{7BBFBBFB-F41C-49E3-B1E5-E1DBE28E1FD0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04</a:t>
            </a:r>
          </a:p>
        </p:txBody>
      </p:sp>
      <p:sp>
        <p:nvSpPr>
          <p:cNvPr id="5" name="shape-zn9kmn">
            <a:extLst>
              <a:ext uri="{FF2B5EF4-FFF2-40B4-BE49-F238E27FC236}">
                <a16:creationId xmlns:a16="http://schemas.microsoft.com/office/drawing/2014/main" id="{B3029F58-B5CF-48C6-8E7D-371519262F2B}"/>
              </a:ext>
            </a:extLst>
          </p:cNvPr>
          <p:cNvSpPr>
            <a:spLocks noGrp="1"/>
          </p:cNvSpPr>
          <p:nvPr/>
        </p:nvSpPr>
        <p:spPr>
          <a:xfrm>
            <a:off x="400050" y="1600200"/>
            <a:ext cx="5410200" cy="3352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-fxbbys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752600"/>
            <a:ext cx="4876800" cy="3048000"/>
          </a:xfrm>
          <a:prstGeom prst="rect">
            <a:avLst/>
          </a:prstGeom>
        </p:spPr>
      </p:pic>
      <p:sp>
        <p:nvSpPr>
          <p:cNvPr id="7" name="shape-8zictn">
            <a:extLst>
              <a:ext uri="{FF2B5EF4-FFF2-40B4-BE49-F238E27FC236}">
                <a16:creationId xmlns:a16="http://schemas.microsoft.com/office/drawing/2014/main" id="{916B808D-B9E6-4453-BDEC-D3E7EB4FC1F1}"/>
              </a:ext>
            </a:extLst>
          </p:cNvPr>
          <p:cNvSpPr>
            <a:spLocks noGrp="1"/>
          </p:cNvSpPr>
          <p:nvPr/>
        </p:nvSpPr>
        <p:spPr>
          <a:xfrm>
            <a:off x="5981700" y="1600200"/>
            <a:ext cx="5810250" cy="3352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-v87f7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448425" y="1752600"/>
            <a:ext cx="4876800" cy="3048000"/>
          </a:xfrm>
          <a:prstGeom prst="rect">
            <a:avLst/>
          </a:prstGeom>
        </p:spPr>
      </p:pic>
      <p:sp>
        <p:nvSpPr>
          <p:cNvPr id="10" name="text-d9xipo">
            <a:extLst>
              <a:ext uri="{FF2B5EF4-FFF2-40B4-BE49-F238E27FC236}">
                <a16:creationId xmlns:a16="http://schemas.microsoft.com/office/drawing/2014/main" id="{72F31C1B-B7A4-4DE1-A521-C42930D16F7E}"/>
              </a:ext>
            </a:extLst>
          </p:cNvPr>
          <p:cNvSpPr>
            <a:spLocks noGrp="1"/>
          </p:cNvSpPr>
          <p:nvPr/>
        </p:nvSpPr>
        <p:spPr>
          <a:xfrm>
            <a:off x="400050" y="5505450"/>
            <a:ext cx="5143500" cy="4381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입학자원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규모를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보여주는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구조적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배경지표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2" name="text-1e8iye">
            <a:extLst>
              <a:ext uri="{FF2B5EF4-FFF2-40B4-BE49-F238E27FC236}">
                <a16:creationId xmlns:a16="http://schemas.microsoft.com/office/drawing/2014/main" id="{BF9160E0-8D45-4F32-AF91-95E63CD06146}"/>
              </a:ext>
            </a:extLst>
          </p:cNvPr>
          <p:cNvSpPr>
            <a:spLocks noGrp="1"/>
          </p:cNvSpPr>
          <p:nvPr/>
        </p:nvSpPr>
        <p:spPr>
          <a:xfrm>
            <a:off x="5981700" y="5505450"/>
            <a:ext cx="5524500" cy="4381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실제 고등교육 수요의 흐름을 보여주는 배경지표</a:t>
            </a:r>
          </a:p>
        </p:txBody>
      </p:sp>
      <p:sp>
        <p:nvSpPr>
          <p:cNvPr id="13" name="text-7p1vke">
            <a:extLst>
              <a:ext uri="{FF2B5EF4-FFF2-40B4-BE49-F238E27FC236}">
                <a16:creationId xmlns:a16="http://schemas.microsoft.com/office/drawing/2014/main" id="{BC925EAD-66C4-4182-93E9-4C799C0E5D9E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보고서 그림 1–2 | 3개년 자료이므로 장기 추세보다 구조적 배경을 탐색하는 수준으로 해석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978899-B824-2CEA-6305-602C715A76B1}"/>
              </a:ext>
            </a:extLst>
          </p:cNvPr>
          <p:cNvSpPr txBox="1"/>
          <p:nvPr/>
        </p:nvSpPr>
        <p:spPr>
          <a:xfrm>
            <a:off x="353883" y="550575"/>
            <a:ext cx="10828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학령인구와 고교 진학 흐름은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입학성과의 외부 환경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을 보여준다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6" name="text-8wc195">
            <a:extLst>
              <a:ext uri="{FF2B5EF4-FFF2-40B4-BE49-F238E27FC236}">
                <a16:creationId xmlns:a16="http://schemas.microsoft.com/office/drawing/2014/main" id="{CA78F80B-9005-1F8F-19F5-C27A577AB3F0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549CEE-246D-339C-7F59-DAEF5FEB4F3F}"/>
              </a:ext>
            </a:extLst>
          </p:cNvPr>
          <p:cNvSpPr txBox="1"/>
          <p:nvPr/>
        </p:nvSpPr>
        <p:spPr>
          <a:xfrm>
            <a:off x="301727" y="5059918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18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세 인구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5D3336-6C3F-E49E-11E1-8697C37495B8}"/>
              </a:ext>
            </a:extLst>
          </p:cNvPr>
          <p:cNvSpPr txBox="1"/>
          <p:nvPr/>
        </p:nvSpPr>
        <p:spPr>
          <a:xfrm>
            <a:off x="5905702" y="5063609"/>
            <a:ext cx="1794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고교 대학 진학률</a:t>
            </a:r>
          </a:p>
        </p:txBody>
      </p:sp>
    </p:spTree>
    <p:extLst>
      <p:ext uri="{BB962C8B-B14F-4D97-AF65-F5344CB8AC3E}">
        <p14:creationId xmlns:p14="http://schemas.microsoft.com/office/powerpoint/2010/main" val="1663179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93045DFF-CEBB-4251-9081-4E30E6EDC3E5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sxy4tw">
            <a:extLst>
              <a:ext uri="{FF2B5EF4-FFF2-40B4-BE49-F238E27FC236}">
                <a16:creationId xmlns:a16="http://schemas.microsoft.com/office/drawing/2014/main" id="{8F3B5303-8AC0-4C3D-9809-CCDDB59EB89D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05</a:t>
            </a:r>
          </a:p>
        </p:txBody>
      </p:sp>
      <p:sp>
        <p:nvSpPr>
          <p:cNvPr id="5" name="shape-nhozza">
            <a:extLst>
              <a:ext uri="{FF2B5EF4-FFF2-40B4-BE49-F238E27FC236}">
                <a16:creationId xmlns:a16="http://schemas.microsoft.com/office/drawing/2014/main" id="{AC99F532-D9E6-4061-8CBA-F84EE194D07F}"/>
              </a:ext>
            </a:extLst>
          </p:cNvPr>
          <p:cNvSpPr>
            <a:spLocks noGrp="1"/>
          </p:cNvSpPr>
          <p:nvPr/>
        </p:nvSpPr>
        <p:spPr>
          <a:xfrm>
            <a:off x="400050" y="1581150"/>
            <a:ext cx="5410200" cy="321945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mq9s7p">
            <a:extLst>
              <a:ext uri="{FF2B5EF4-FFF2-40B4-BE49-F238E27FC236}">
                <a16:creationId xmlns:a16="http://schemas.microsoft.com/office/drawing/2014/main" id="{4913B33E-E8B7-48B8-86B9-97F9BEAA8DEA}"/>
              </a:ext>
            </a:extLst>
          </p:cNvPr>
          <p:cNvSpPr>
            <a:spLocks noGrp="1"/>
          </p:cNvSpPr>
          <p:nvPr/>
        </p:nvSpPr>
        <p:spPr>
          <a:xfrm>
            <a:off x="5981700" y="1581150"/>
            <a:ext cx="5810250" cy="321945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-djewb2">
            <a:extLst>
              <a:ext uri="{FF2B5EF4-FFF2-40B4-BE49-F238E27FC236}">
                <a16:creationId xmlns:a16="http://schemas.microsoft.com/office/drawing/2014/main" id="{40701164-9836-4A03-A6BC-E531B65DE123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-mbqz9s">
            <a:extLst>
              <a:ext uri="{FF2B5EF4-FFF2-40B4-BE49-F238E27FC236}">
                <a16:creationId xmlns:a16="http://schemas.microsoft.com/office/drawing/2014/main" id="{3E37E64C-ABC3-43D3-8928-D80A1ECC2F23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76200" cy="144780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5tb82q">
            <a:extLst>
              <a:ext uri="{FF2B5EF4-FFF2-40B4-BE49-F238E27FC236}">
                <a16:creationId xmlns:a16="http://schemas.microsoft.com/office/drawing/2014/main" id="{036CF9C6-1E11-464F-B87F-15507A84D131}"/>
              </a:ext>
            </a:extLst>
          </p:cNvPr>
          <p:cNvSpPr>
            <a:spLocks noGrp="1"/>
          </p:cNvSpPr>
          <p:nvPr/>
        </p:nvSpPr>
        <p:spPr>
          <a:xfrm>
            <a:off x="647700" y="57721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p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=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400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3" name="shape-caxewk">
            <a:extLst>
              <a:ext uri="{FF2B5EF4-FFF2-40B4-BE49-F238E27FC236}">
                <a16:creationId xmlns:a16="http://schemas.microsoft.com/office/drawing/2014/main" id="{985D857C-077D-4E59-881B-68DDCB1339CA}"/>
              </a:ext>
            </a:extLst>
          </p:cNvPr>
          <p:cNvSpPr>
            <a:spLocks noGrp="1"/>
          </p:cNvSpPr>
          <p:nvPr/>
        </p:nvSpPr>
        <p:spPr>
          <a:xfrm>
            <a:off x="4381500" y="48577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6da7td">
            <a:extLst>
              <a:ext uri="{FF2B5EF4-FFF2-40B4-BE49-F238E27FC236}">
                <a16:creationId xmlns:a16="http://schemas.microsoft.com/office/drawing/2014/main" id="{97DD8F57-B898-4F74-A410-731A72A525E5}"/>
              </a:ext>
            </a:extLst>
          </p:cNvPr>
          <p:cNvSpPr>
            <a:spLocks noGrp="1"/>
          </p:cNvSpPr>
          <p:nvPr/>
        </p:nvSpPr>
        <p:spPr>
          <a:xfrm>
            <a:off x="4381500" y="485775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-mxvoey">
            <a:extLst>
              <a:ext uri="{FF2B5EF4-FFF2-40B4-BE49-F238E27FC236}">
                <a16:creationId xmlns:a16="http://schemas.microsoft.com/office/drawing/2014/main" id="{F2893A39-3B20-45F5-B584-5EB8C373D6ED}"/>
              </a:ext>
            </a:extLst>
          </p:cNvPr>
          <p:cNvSpPr>
            <a:spLocks noGrp="1"/>
          </p:cNvSpPr>
          <p:nvPr/>
        </p:nvSpPr>
        <p:spPr>
          <a:xfrm>
            <a:off x="4629150" y="57721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p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&lt;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.001</a:t>
            </a:r>
          </a:p>
        </p:txBody>
      </p:sp>
      <p:sp>
        <p:nvSpPr>
          <p:cNvPr id="17" name="shape-da96z0">
            <a:extLst>
              <a:ext uri="{FF2B5EF4-FFF2-40B4-BE49-F238E27FC236}">
                <a16:creationId xmlns:a16="http://schemas.microsoft.com/office/drawing/2014/main" id="{B639C520-2302-4BFA-82D9-04BE5DD9C022}"/>
              </a:ext>
            </a:extLst>
          </p:cNvPr>
          <p:cNvSpPr>
            <a:spLocks noGrp="1"/>
          </p:cNvSpPr>
          <p:nvPr/>
        </p:nvSpPr>
        <p:spPr>
          <a:xfrm>
            <a:off x="8362950" y="48577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-1mtlz4">
            <a:extLst>
              <a:ext uri="{FF2B5EF4-FFF2-40B4-BE49-F238E27FC236}">
                <a16:creationId xmlns:a16="http://schemas.microsoft.com/office/drawing/2014/main" id="{F9A522AB-ED25-4B54-9B2F-C2D06FA772BA}"/>
              </a:ext>
            </a:extLst>
          </p:cNvPr>
          <p:cNvSpPr>
            <a:spLocks noGrp="1"/>
          </p:cNvSpPr>
          <p:nvPr/>
        </p:nvSpPr>
        <p:spPr>
          <a:xfrm>
            <a:off x="8362950" y="485775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-j4hk6x">
            <a:extLst>
              <a:ext uri="{FF2B5EF4-FFF2-40B4-BE49-F238E27FC236}">
                <a16:creationId xmlns:a16="http://schemas.microsoft.com/office/drawing/2014/main" id="{526893B0-1275-449E-B3DB-F0292701A0A6}"/>
              </a:ext>
            </a:extLst>
          </p:cNvPr>
          <p:cNvSpPr>
            <a:spLocks noGrp="1"/>
          </p:cNvSpPr>
          <p:nvPr/>
        </p:nvSpPr>
        <p:spPr>
          <a:xfrm>
            <a:off x="8610600" y="57721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졸업생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p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&lt;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.001</a:t>
            </a:r>
          </a:p>
        </p:txBody>
      </p:sp>
      <p:sp>
        <p:nvSpPr>
          <p:cNvPr id="21" name="text-yhv424">
            <a:extLst>
              <a:ext uri="{FF2B5EF4-FFF2-40B4-BE49-F238E27FC236}">
                <a16:creationId xmlns:a16="http://schemas.microsoft.com/office/drawing/2014/main" id="{BB4F0A92-60FB-4310-8BA7-1A983C0C429A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/>
              <a:t>Pearson </a:t>
            </a:r>
            <a:r>
              <a:rPr lang="ko-KR" altLang="en-US" dirty="0"/>
              <a:t>상관분석</a:t>
            </a:r>
            <a:r>
              <a:rPr lang="en-US" altLang="ko-KR" dirty="0"/>
              <a:t>, N=66 | </a:t>
            </a:r>
            <a:r>
              <a:rPr lang="ko-KR" altLang="en-US" dirty="0"/>
              <a:t>보고서 그림 </a:t>
            </a:r>
            <a:r>
              <a:rPr lang="en-US" altLang="ko-KR" dirty="0"/>
              <a:t>3–4 </a:t>
            </a:r>
            <a:r>
              <a:rPr lang="ko-KR" altLang="en-US" dirty="0"/>
              <a:t>및 부록 표 </a:t>
            </a:r>
            <a:r>
              <a:rPr lang="en-US" altLang="ko-KR" dirty="0"/>
              <a:t>2</a:t>
            </a: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CCCA1-BB1D-237F-6291-21FA236F8583}"/>
              </a:ext>
            </a:extLst>
          </p:cNvPr>
          <p:cNvSpPr txBox="1"/>
          <p:nvPr/>
        </p:nvSpPr>
        <p:spPr>
          <a:xfrm>
            <a:off x="353883" y="581748"/>
            <a:ext cx="109824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취업률보다 </a:t>
            </a:r>
            <a:r>
              <a:rPr lang="ko-KR" altLang="en-US" sz="28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</a:t>
            </a:r>
            <a:r>
              <a:rPr lang="en-US" altLang="ko-KR" sz="28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28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졸업생 진학률</a:t>
            </a:r>
            <a:r>
              <a:rPr lang="ko-KR" altLang="en-US" sz="28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이 충원율과 </a:t>
            </a:r>
            <a:r>
              <a:rPr lang="ko-KR" altLang="en-US" sz="28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더 뚜렷한 관련성</a:t>
            </a:r>
            <a:r>
              <a:rPr lang="ko-KR" altLang="en-US" sz="28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을 보였다</a:t>
            </a:r>
            <a:endParaRPr lang="en-US" altLang="ko-KR" sz="28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4" name="text-8wc195">
            <a:extLst>
              <a:ext uri="{FF2B5EF4-FFF2-40B4-BE49-F238E27FC236}">
                <a16:creationId xmlns:a16="http://schemas.microsoft.com/office/drawing/2014/main" id="{2856B246-127B-00F1-4272-43D98A99C959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E2BA26-6324-4E4E-6C67-8A15D4D8005B}"/>
              </a:ext>
            </a:extLst>
          </p:cNvPr>
          <p:cNvSpPr txBox="1"/>
          <p:nvPr/>
        </p:nvSpPr>
        <p:spPr>
          <a:xfrm>
            <a:off x="570272" y="5086657"/>
            <a:ext cx="18517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 = 0.105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94EE14-7EC1-C057-C999-93AEB8C64FF6}"/>
              </a:ext>
            </a:extLst>
          </p:cNvPr>
          <p:cNvSpPr txBox="1"/>
          <p:nvPr/>
        </p:nvSpPr>
        <p:spPr>
          <a:xfrm>
            <a:off x="4579555" y="5063550"/>
            <a:ext cx="18517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 = 0.425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46D2FE-6A02-74C2-47FD-3A6F2B2FA645}"/>
              </a:ext>
            </a:extLst>
          </p:cNvPr>
          <p:cNvSpPr txBox="1"/>
          <p:nvPr/>
        </p:nvSpPr>
        <p:spPr>
          <a:xfrm>
            <a:off x="8561005" y="5063549"/>
            <a:ext cx="18517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 = 0.407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982A13-BB3A-4FE8-B99D-DBD89C8760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219" y="1769700"/>
            <a:ext cx="3958420" cy="28274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E9AB843-B7F0-E6F1-05BC-941291494A3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6164" y="1776118"/>
            <a:ext cx="3961321" cy="2829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175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A77C2376-42FC-4B2D-A6D0-8A6DD1CC0E04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6cc408">
            <a:extLst>
              <a:ext uri="{FF2B5EF4-FFF2-40B4-BE49-F238E27FC236}">
                <a16:creationId xmlns:a16="http://schemas.microsoft.com/office/drawing/2014/main" id="{8166E943-0B31-45E3-97AD-39A1D4C4201F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06</a:t>
            </a:r>
          </a:p>
        </p:txBody>
      </p:sp>
      <p:sp>
        <p:nvSpPr>
          <p:cNvPr id="5" name="shape-tjq3ds">
            <a:extLst>
              <a:ext uri="{FF2B5EF4-FFF2-40B4-BE49-F238E27FC236}">
                <a16:creationId xmlns:a16="http://schemas.microsoft.com/office/drawing/2014/main" id="{ACB5B987-F38C-4E02-A215-12BD0DDF4FC4}"/>
              </a:ext>
            </a:extLst>
          </p:cNvPr>
          <p:cNvSpPr>
            <a:spLocks noGrp="1"/>
          </p:cNvSpPr>
          <p:nvPr/>
        </p:nvSpPr>
        <p:spPr>
          <a:xfrm>
            <a:off x="400050" y="1524000"/>
            <a:ext cx="245745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lvzg3j">
            <a:extLst>
              <a:ext uri="{FF2B5EF4-FFF2-40B4-BE49-F238E27FC236}">
                <a16:creationId xmlns:a16="http://schemas.microsoft.com/office/drawing/2014/main" id="{A6265675-4360-4F01-BDC7-9B85BAAD9FF6}"/>
              </a:ext>
            </a:extLst>
          </p:cNvPr>
          <p:cNvSpPr>
            <a:spLocks noGrp="1"/>
          </p:cNvSpPr>
          <p:nvPr/>
        </p:nvSpPr>
        <p:spPr>
          <a:xfrm>
            <a:off x="400050" y="152400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-8qvsfr">
            <a:extLst>
              <a:ext uri="{FF2B5EF4-FFF2-40B4-BE49-F238E27FC236}">
                <a16:creationId xmlns:a16="http://schemas.microsoft.com/office/drawing/2014/main" id="{914D5CC6-DD4E-49A6-BCB0-52F4C1E42294}"/>
              </a:ext>
            </a:extLst>
          </p:cNvPr>
          <p:cNvSpPr>
            <a:spLocks noGrp="1"/>
          </p:cNvSpPr>
          <p:nvPr/>
        </p:nvSpPr>
        <p:spPr>
          <a:xfrm>
            <a:off x="647700" y="2438400"/>
            <a:ext cx="20002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수정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R²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=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.19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7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9" name="shape-updjoa">
            <a:extLst>
              <a:ext uri="{FF2B5EF4-FFF2-40B4-BE49-F238E27FC236}">
                <a16:creationId xmlns:a16="http://schemas.microsoft.com/office/drawing/2014/main" id="{275EB4AC-55F1-4816-89FB-E1159B9F401B}"/>
              </a:ext>
            </a:extLst>
          </p:cNvPr>
          <p:cNvSpPr>
            <a:spLocks noGrp="1"/>
          </p:cNvSpPr>
          <p:nvPr/>
        </p:nvSpPr>
        <p:spPr>
          <a:xfrm>
            <a:off x="3067050" y="1524000"/>
            <a:ext cx="245745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-r4c4yv">
            <a:extLst>
              <a:ext uri="{FF2B5EF4-FFF2-40B4-BE49-F238E27FC236}">
                <a16:creationId xmlns:a16="http://schemas.microsoft.com/office/drawing/2014/main" id="{F9685967-4F1B-48BE-B881-01D0FCD941A9}"/>
              </a:ext>
            </a:extLst>
          </p:cNvPr>
          <p:cNvSpPr>
            <a:spLocks noGrp="1"/>
          </p:cNvSpPr>
          <p:nvPr/>
        </p:nvSpPr>
        <p:spPr>
          <a:xfrm>
            <a:off x="3067050" y="152400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hp0vyy">
            <a:extLst>
              <a:ext uri="{FF2B5EF4-FFF2-40B4-BE49-F238E27FC236}">
                <a16:creationId xmlns:a16="http://schemas.microsoft.com/office/drawing/2014/main" id="{24203105-073D-4496-BD80-2EBE4DA64D3A}"/>
              </a:ext>
            </a:extLst>
          </p:cNvPr>
          <p:cNvSpPr>
            <a:spLocks noGrp="1"/>
          </p:cNvSpPr>
          <p:nvPr/>
        </p:nvSpPr>
        <p:spPr>
          <a:xfrm>
            <a:off x="3314700" y="2438400"/>
            <a:ext cx="20002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모형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p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=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.002</a:t>
            </a:r>
          </a:p>
        </p:txBody>
      </p:sp>
      <p:sp>
        <p:nvSpPr>
          <p:cNvPr id="13" name="shape-uluo7r">
            <a:extLst>
              <a:ext uri="{FF2B5EF4-FFF2-40B4-BE49-F238E27FC236}">
                <a16:creationId xmlns:a16="http://schemas.microsoft.com/office/drawing/2014/main" id="{5C4EA571-AA1C-4144-90FF-9742701BD890}"/>
              </a:ext>
            </a:extLst>
          </p:cNvPr>
          <p:cNvSpPr>
            <a:spLocks noGrp="1"/>
          </p:cNvSpPr>
          <p:nvPr/>
        </p:nvSpPr>
        <p:spPr>
          <a:xfrm>
            <a:off x="5734050" y="1524000"/>
            <a:ext cx="245745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xakamq">
            <a:extLst>
              <a:ext uri="{FF2B5EF4-FFF2-40B4-BE49-F238E27FC236}">
                <a16:creationId xmlns:a16="http://schemas.microsoft.com/office/drawing/2014/main" id="{F7B82AA3-CFC9-4A0C-9312-694B1C200A4E}"/>
              </a:ext>
            </a:extLst>
          </p:cNvPr>
          <p:cNvSpPr>
            <a:spLocks noGrp="1"/>
          </p:cNvSpPr>
          <p:nvPr/>
        </p:nvSpPr>
        <p:spPr>
          <a:xfrm>
            <a:off x="5734050" y="1524000"/>
            <a:ext cx="76200" cy="1447800"/>
          </a:xfrm>
          <a:prstGeom prst="rect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-fw4g18">
            <a:extLst>
              <a:ext uri="{FF2B5EF4-FFF2-40B4-BE49-F238E27FC236}">
                <a16:creationId xmlns:a16="http://schemas.microsoft.com/office/drawing/2014/main" id="{4AB83BB4-7884-452C-84A3-D4C68F17A661}"/>
              </a:ext>
            </a:extLst>
          </p:cNvPr>
          <p:cNvSpPr>
            <a:spLocks noGrp="1"/>
          </p:cNvSpPr>
          <p:nvPr/>
        </p:nvSpPr>
        <p:spPr>
          <a:xfrm>
            <a:off x="5981700" y="2438400"/>
            <a:ext cx="20002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1.294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–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2.155</a:t>
            </a:r>
          </a:p>
        </p:txBody>
      </p:sp>
      <p:sp>
        <p:nvSpPr>
          <p:cNvPr id="17" name="shape-v1w8yu">
            <a:extLst>
              <a:ext uri="{FF2B5EF4-FFF2-40B4-BE49-F238E27FC236}">
                <a16:creationId xmlns:a16="http://schemas.microsoft.com/office/drawing/2014/main" id="{1C258EDE-2BDC-4DAD-8C17-F9FDCD3EB255}"/>
              </a:ext>
            </a:extLst>
          </p:cNvPr>
          <p:cNvSpPr>
            <a:spLocks noGrp="1"/>
          </p:cNvSpPr>
          <p:nvPr/>
        </p:nvSpPr>
        <p:spPr>
          <a:xfrm>
            <a:off x="8420100" y="1524000"/>
            <a:ext cx="3371850" cy="144780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-m1jz9z">
            <a:extLst>
              <a:ext uri="{FF2B5EF4-FFF2-40B4-BE49-F238E27FC236}">
                <a16:creationId xmlns:a16="http://schemas.microsoft.com/office/drawing/2014/main" id="{A580E949-4217-4F83-9162-D1CA4F4692C1}"/>
              </a:ext>
            </a:extLst>
          </p:cNvPr>
          <p:cNvSpPr>
            <a:spLocks noGrp="1"/>
          </p:cNvSpPr>
          <p:nvPr/>
        </p:nvSpPr>
        <p:spPr>
          <a:xfrm>
            <a:off x="8667750" y="2152650"/>
            <a:ext cx="28194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취업성과 하나보다 입시 수요와 진학 흐름을 함께 고려해야 한다.</a:t>
            </a:r>
          </a:p>
        </p:txBody>
      </p:sp>
      <p:sp>
        <p:nvSpPr>
          <p:cNvPr id="20" name="shape-mc3vyd">
            <a:extLst>
              <a:ext uri="{FF2B5EF4-FFF2-40B4-BE49-F238E27FC236}">
                <a16:creationId xmlns:a16="http://schemas.microsoft.com/office/drawing/2014/main" id="{51041DBB-A5FE-4E2D-8F7E-A5C8694B1C35}"/>
              </a:ext>
            </a:extLst>
          </p:cNvPr>
          <p:cNvSpPr>
            <a:spLocks noGrp="1"/>
          </p:cNvSpPr>
          <p:nvPr/>
        </p:nvSpPr>
        <p:spPr>
          <a:xfrm>
            <a:off x="400050" y="3219450"/>
            <a:ext cx="11391900" cy="26670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-b6498x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97546" y="3505200"/>
            <a:ext cx="8396909" cy="2114550"/>
          </a:xfrm>
          <a:prstGeom prst="rect">
            <a:avLst/>
          </a:prstGeom>
        </p:spPr>
      </p:pic>
      <p:sp>
        <p:nvSpPr>
          <p:cNvPr id="23" name="text-q8z7ik">
            <a:extLst>
              <a:ext uri="{FF2B5EF4-FFF2-40B4-BE49-F238E27FC236}">
                <a16:creationId xmlns:a16="http://schemas.microsoft.com/office/drawing/2014/main" id="{C811AE79-09DA-48E8-94A8-BA6AFDD4DEAE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/>
              <a:t>종속변수</a:t>
            </a:r>
            <a:r>
              <a:rPr dirty="0"/>
              <a:t>: </a:t>
            </a:r>
            <a:r>
              <a:rPr dirty="0" err="1"/>
              <a:t>신입생</a:t>
            </a:r>
            <a:r>
              <a:rPr dirty="0"/>
              <a:t> </a:t>
            </a:r>
            <a:r>
              <a:rPr dirty="0" err="1"/>
              <a:t>충원율</a:t>
            </a:r>
            <a:r>
              <a:rPr dirty="0"/>
              <a:t> | </a:t>
            </a:r>
            <a:r>
              <a:rPr dirty="0" err="1"/>
              <a:t>보고서</a:t>
            </a:r>
            <a:r>
              <a:rPr dirty="0"/>
              <a:t> </a:t>
            </a:r>
            <a:r>
              <a:rPr dirty="0" err="1"/>
              <a:t>부록</a:t>
            </a:r>
            <a:r>
              <a:rPr dirty="0"/>
              <a:t> 표 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59E875-6DB8-80E8-878E-5346F75BF4B5}"/>
              </a:ext>
            </a:extLst>
          </p:cNvPr>
          <p:cNvSpPr txBox="1"/>
          <p:nvPr/>
        </p:nvSpPr>
        <p:spPr>
          <a:xfrm>
            <a:off x="588708" y="1736130"/>
            <a:ext cx="21114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R² = 0.259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399F2D-04D2-9962-489D-ADCAB7986729}"/>
              </a:ext>
            </a:extLst>
          </p:cNvPr>
          <p:cNvSpPr txBox="1"/>
          <p:nvPr/>
        </p:nvSpPr>
        <p:spPr>
          <a:xfrm>
            <a:off x="5916869" y="1740924"/>
            <a:ext cx="7889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VIF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55F315-3394-1576-0640-53B950B26EB1}"/>
              </a:ext>
            </a:extLst>
          </p:cNvPr>
          <p:cNvSpPr txBox="1"/>
          <p:nvPr/>
        </p:nvSpPr>
        <p:spPr>
          <a:xfrm>
            <a:off x="3226212" y="1740924"/>
            <a:ext cx="19094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F = 4.197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B1F93B-5482-1986-B159-90D6C1A39D1E}"/>
              </a:ext>
            </a:extLst>
          </p:cNvPr>
          <p:cNvSpPr txBox="1"/>
          <p:nvPr/>
        </p:nvSpPr>
        <p:spPr>
          <a:xfrm>
            <a:off x="2130886" y="5945159"/>
            <a:ext cx="7587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  </a:t>
            </a:r>
            <a:r>
              <a:rPr lang="en-US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B=0.454, p=0.009   ·   </a:t>
            </a:r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졸업생</a:t>
            </a:r>
            <a:r>
              <a:rPr lang="en-US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진학률  </a:t>
            </a:r>
            <a:r>
              <a:rPr lang="en-US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B=0.166, p=0.027   ·   </a:t>
            </a:r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취업률  </a:t>
            </a:r>
            <a:r>
              <a:rPr lang="en-US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B=-0.117, p=0.225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EAE885-941A-C71B-D982-66AD43EDE2E5}"/>
              </a:ext>
            </a:extLst>
          </p:cNvPr>
          <p:cNvSpPr txBox="1"/>
          <p:nvPr/>
        </p:nvSpPr>
        <p:spPr>
          <a:xfrm>
            <a:off x="353883" y="550575"/>
            <a:ext cx="10828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다중 회귀에서도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경쟁률과 진학률만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유의한 양의 관계를 보였다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7" name="text-8wc195">
            <a:extLst>
              <a:ext uri="{FF2B5EF4-FFF2-40B4-BE49-F238E27FC236}">
                <a16:creationId xmlns:a16="http://schemas.microsoft.com/office/drawing/2014/main" id="{871085E3-A2A7-CC98-C4F9-BE6165784316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E9B3CA-68D2-C911-3367-F95E6F8ED762}"/>
              </a:ext>
            </a:extLst>
          </p:cNvPr>
          <p:cNvSpPr txBox="1"/>
          <p:nvPr/>
        </p:nvSpPr>
        <p:spPr>
          <a:xfrm>
            <a:off x="8579996" y="1708189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핵심 해석</a:t>
            </a:r>
          </a:p>
        </p:txBody>
      </p:sp>
    </p:spTree>
    <p:extLst>
      <p:ext uri="{BB962C8B-B14F-4D97-AF65-F5344CB8AC3E}">
        <p14:creationId xmlns:p14="http://schemas.microsoft.com/office/powerpoint/2010/main" val="1356242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631F0FE4-BFB7-4F95-8C7C-16ADC028378D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jhdxdv">
            <a:extLst>
              <a:ext uri="{FF2B5EF4-FFF2-40B4-BE49-F238E27FC236}">
                <a16:creationId xmlns:a16="http://schemas.microsoft.com/office/drawing/2014/main" id="{D44C8C94-84C7-42A1-BC39-D026944167B0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07</a:t>
            </a:r>
          </a:p>
        </p:txBody>
      </p:sp>
      <p:sp>
        <p:nvSpPr>
          <p:cNvPr id="5" name="shape-7y0ebq">
            <a:extLst>
              <a:ext uri="{FF2B5EF4-FFF2-40B4-BE49-F238E27FC236}">
                <a16:creationId xmlns:a16="http://schemas.microsoft.com/office/drawing/2014/main" id="{8F3C10C2-0508-493D-9B50-085D4B30DB42}"/>
              </a:ext>
            </a:extLst>
          </p:cNvPr>
          <p:cNvSpPr>
            <a:spLocks noGrp="1"/>
          </p:cNvSpPr>
          <p:nvPr/>
        </p:nvSpPr>
        <p:spPr>
          <a:xfrm>
            <a:off x="400050" y="1562100"/>
            <a:ext cx="6572250" cy="371475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nfs5od">
            <a:extLst>
              <a:ext uri="{FF2B5EF4-FFF2-40B4-BE49-F238E27FC236}">
                <a16:creationId xmlns:a16="http://schemas.microsoft.com/office/drawing/2014/main" id="{328AD4B3-DD3B-4E7D-B6A3-AAEE735AF166}"/>
              </a:ext>
            </a:extLst>
          </p:cNvPr>
          <p:cNvSpPr>
            <a:spLocks noGrp="1"/>
          </p:cNvSpPr>
          <p:nvPr/>
        </p:nvSpPr>
        <p:spPr>
          <a:xfrm>
            <a:off x="7981950" y="2152650"/>
            <a:ext cx="3429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입학성과 보완 필요형</a:t>
            </a:r>
          </a:p>
        </p:txBody>
      </p:sp>
      <p:sp>
        <p:nvSpPr>
          <p:cNvPr id="10" name="rule-770-264">
            <a:extLst>
              <a:ext uri="{FF2B5EF4-FFF2-40B4-BE49-F238E27FC236}">
                <a16:creationId xmlns:a16="http://schemas.microsoft.com/office/drawing/2014/main" id="{71A9B877-C7DB-4A5F-85D0-DF303B1486AD}"/>
              </a:ext>
            </a:extLst>
          </p:cNvPr>
          <p:cNvSpPr>
            <a:spLocks noGrp="1"/>
          </p:cNvSpPr>
          <p:nvPr/>
        </p:nvSpPr>
        <p:spPr>
          <a:xfrm>
            <a:off x="7334250" y="2514600"/>
            <a:ext cx="40767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m2d6qr">
            <a:extLst>
              <a:ext uri="{FF2B5EF4-FFF2-40B4-BE49-F238E27FC236}">
                <a16:creationId xmlns:a16="http://schemas.microsoft.com/office/drawing/2014/main" id="{821E908E-E74B-4C59-A4DF-4245182479F9}"/>
              </a:ext>
            </a:extLst>
          </p:cNvPr>
          <p:cNvSpPr>
            <a:spLocks noGrp="1"/>
          </p:cNvSpPr>
          <p:nvPr/>
        </p:nvSpPr>
        <p:spPr>
          <a:xfrm>
            <a:off x="7981950" y="2705100"/>
            <a:ext cx="3429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관찰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필요형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3" name="rule-770-322">
            <a:extLst>
              <a:ext uri="{FF2B5EF4-FFF2-40B4-BE49-F238E27FC236}">
                <a16:creationId xmlns:a16="http://schemas.microsoft.com/office/drawing/2014/main" id="{B8E68192-0943-4A5F-92FA-B0A87844C7A6}"/>
              </a:ext>
            </a:extLst>
          </p:cNvPr>
          <p:cNvSpPr>
            <a:spLocks noGrp="1"/>
          </p:cNvSpPr>
          <p:nvPr/>
        </p:nvSpPr>
        <p:spPr>
          <a:xfrm>
            <a:off x="7334250" y="3067050"/>
            <a:ext cx="40767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-7a5miq">
            <a:extLst>
              <a:ext uri="{FF2B5EF4-FFF2-40B4-BE49-F238E27FC236}">
                <a16:creationId xmlns:a16="http://schemas.microsoft.com/office/drawing/2014/main" id="{F681A0FB-1699-431D-AC28-46CBC7F07367}"/>
              </a:ext>
            </a:extLst>
          </p:cNvPr>
          <p:cNvSpPr>
            <a:spLocks noGrp="1"/>
          </p:cNvSpPr>
          <p:nvPr/>
        </p:nvSpPr>
        <p:spPr>
          <a:xfrm>
            <a:off x="7981950" y="3257550"/>
            <a:ext cx="3429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충원 안정·수요 강세형</a:t>
            </a:r>
          </a:p>
        </p:txBody>
      </p:sp>
      <p:sp>
        <p:nvSpPr>
          <p:cNvPr id="16" name="rule-770-380">
            <a:extLst>
              <a:ext uri="{FF2B5EF4-FFF2-40B4-BE49-F238E27FC236}">
                <a16:creationId xmlns:a16="http://schemas.microsoft.com/office/drawing/2014/main" id="{39B83993-A335-4ADC-985E-816DDBACDF97}"/>
              </a:ext>
            </a:extLst>
          </p:cNvPr>
          <p:cNvSpPr>
            <a:spLocks noGrp="1"/>
          </p:cNvSpPr>
          <p:nvPr/>
        </p:nvSpPr>
        <p:spPr>
          <a:xfrm>
            <a:off x="7334250" y="3619500"/>
            <a:ext cx="40767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-4ufzkx">
            <a:extLst>
              <a:ext uri="{FF2B5EF4-FFF2-40B4-BE49-F238E27FC236}">
                <a16:creationId xmlns:a16="http://schemas.microsoft.com/office/drawing/2014/main" id="{EE91CDF5-A033-419F-9DD4-1F3C35F38356}"/>
              </a:ext>
            </a:extLst>
          </p:cNvPr>
          <p:cNvSpPr>
            <a:spLocks noGrp="1"/>
          </p:cNvSpPr>
          <p:nvPr/>
        </p:nvSpPr>
        <p:spPr>
          <a:xfrm>
            <a:off x="7981950" y="3810000"/>
            <a:ext cx="3429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충원 안정형</a:t>
            </a:r>
          </a:p>
        </p:txBody>
      </p:sp>
      <p:sp>
        <p:nvSpPr>
          <p:cNvPr id="19" name="rule-770-438">
            <a:extLst>
              <a:ext uri="{FF2B5EF4-FFF2-40B4-BE49-F238E27FC236}">
                <a16:creationId xmlns:a16="http://schemas.microsoft.com/office/drawing/2014/main" id="{39F3BDF6-1384-4A3D-81C4-C2058F20D2D5}"/>
              </a:ext>
            </a:extLst>
          </p:cNvPr>
          <p:cNvSpPr>
            <a:spLocks noGrp="1"/>
          </p:cNvSpPr>
          <p:nvPr/>
        </p:nvSpPr>
        <p:spPr>
          <a:xfrm>
            <a:off x="7334250" y="4171950"/>
            <a:ext cx="40767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-xj9w7f">
            <a:extLst>
              <a:ext uri="{FF2B5EF4-FFF2-40B4-BE49-F238E27FC236}">
                <a16:creationId xmlns:a16="http://schemas.microsoft.com/office/drawing/2014/main" id="{47396AF4-61F3-42A5-BFB2-5A89474FA075}"/>
              </a:ext>
            </a:extLst>
          </p:cNvPr>
          <p:cNvSpPr>
            <a:spLocks noGrp="1"/>
          </p:cNvSpPr>
          <p:nvPr/>
        </p:nvSpPr>
        <p:spPr>
          <a:xfrm>
            <a:off x="7981950" y="4362450"/>
            <a:ext cx="3429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수요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강세형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2" name="rule-770-496">
            <a:extLst>
              <a:ext uri="{FF2B5EF4-FFF2-40B4-BE49-F238E27FC236}">
                <a16:creationId xmlns:a16="http://schemas.microsoft.com/office/drawing/2014/main" id="{E87E5D77-3A17-4BBE-A739-8D1CE768E6C2}"/>
              </a:ext>
            </a:extLst>
          </p:cNvPr>
          <p:cNvSpPr>
            <a:spLocks noGrp="1"/>
          </p:cNvSpPr>
          <p:nvPr/>
        </p:nvSpPr>
        <p:spPr>
          <a:xfrm>
            <a:off x="7334250" y="4724400"/>
            <a:ext cx="40767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-m6yg7j">
            <a:extLst>
              <a:ext uri="{FF2B5EF4-FFF2-40B4-BE49-F238E27FC236}">
                <a16:creationId xmlns:a16="http://schemas.microsoft.com/office/drawing/2014/main" id="{A63444EB-3D47-43D9-8050-50E7E2E7BADE}"/>
              </a:ext>
            </a:extLst>
          </p:cNvPr>
          <p:cNvSpPr>
            <a:spLocks noGrp="1"/>
          </p:cNvSpPr>
          <p:nvPr/>
        </p:nvSpPr>
        <p:spPr>
          <a:xfrm>
            <a:off x="400050" y="5505450"/>
            <a:ext cx="11391900" cy="62865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" name="text-m8wan1">
            <a:extLst>
              <a:ext uri="{FF2B5EF4-FFF2-40B4-BE49-F238E27FC236}">
                <a16:creationId xmlns:a16="http://schemas.microsoft.com/office/drawing/2014/main" id="{9419CEBE-BE62-4B76-9BE3-70773927EBE1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/>
              <a:t>보고서</a:t>
            </a:r>
            <a:r>
              <a:rPr dirty="0"/>
              <a:t> </a:t>
            </a:r>
            <a:r>
              <a:rPr dirty="0" err="1"/>
              <a:t>그림</a:t>
            </a:r>
            <a:r>
              <a:rPr dirty="0"/>
              <a:t> 5 | </a:t>
            </a:r>
            <a:r>
              <a:rPr lang="ko-KR" altLang="ko-KR" sz="900" dirty="0"/>
              <a:t>유형은 3개년 평균 </a:t>
            </a:r>
            <a:r>
              <a:rPr lang="ko-KR" altLang="ko-KR" sz="900" dirty="0" err="1"/>
              <a:t>충원율·경쟁률·취업률·충원</a:t>
            </a:r>
            <a:r>
              <a:rPr lang="ko-KR" altLang="ko-KR" sz="900" dirty="0"/>
              <a:t> 안정성을 종합하여 구성</a:t>
            </a:r>
            <a:endParaRPr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FE0003-AF3B-6327-973B-0E5E67736282}"/>
              </a:ext>
            </a:extLst>
          </p:cNvPr>
          <p:cNvSpPr txBox="1"/>
          <p:nvPr/>
        </p:nvSpPr>
        <p:spPr>
          <a:xfrm>
            <a:off x="353883" y="550575"/>
            <a:ext cx="11267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22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 대학은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 구조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에 따라 </a:t>
            </a:r>
            <a:r>
              <a:rPr lang="en-US" altLang="ko-KR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6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가지 전략 유형으로 구분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됐다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9" name="text-8wc195">
            <a:extLst>
              <a:ext uri="{FF2B5EF4-FFF2-40B4-BE49-F238E27FC236}">
                <a16:creationId xmlns:a16="http://schemas.microsoft.com/office/drawing/2014/main" id="{942EFF88-C17A-2BCE-5B9F-BE9FCDA47B61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9E45E-2689-D58D-4023-12B0CDDCD59D}"/>
              </a:ext>
            </a:extLst>
          </p:cNvPr>
          <p:cNvSpPr txBox="1"/>
          <p:nvPr/>
        </p:nvSpPr>
        <p:spPr>
          <a:xfrm>
            <a:off x="7334250" y="1606676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유형별 대학 수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380F02-3700-E949-0042-46D10B2DCEC8}"/>
              </a:ext>
            </a:extLst>
          </p:cNvPr>
          <p:cNvSpPr txBox="1"/>
          <p:nvPr/>
        </p:nvSpPr>
        <p:spPr>
          <a:xfrm>
            <a:off x="7536426" y="2069068"/>
            <a:ext cx="316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6</a:t>
            </a:r>
            <a:endParaRPr lang="ko-KR" altLang="en-US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13088D-2AA2-A802-B230-A8C9DBF1685A}"/>
              </a:ext>
            </a:extLst>
          </p:cNvPr>
          <p:cNvSpPr txBox="1"/>
          <p:nvPr/>
        </p:nvSpPr>
        <p:spPr>
          <a:xfrm>
            <a:off x="7536425" y="2616291"/>
            <a:ext cx="31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5</a:t>
            </a:r>
            <a:endParaRPr lang="ko-KR" alt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E05ACE-D14E-19C2-F31F-B225C740BD00}"/>
              </a:ext>
            </a:extLst>
          </p:cNvPr>
          <p:cNvSpPr txBox="1"/>
          <p:nvPr/>
        </p:nvSpPr>
        <p:spPr>
          <a:xfrm>
            <a:off x="7536424" y="3183800"/>
            <a:ext cx="31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5</a:t>
            </a:r>
            <a:endParaRPr lang="ko-KR" alt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C4A53B-FCBF-857A-ABF9-A20694D2590F}"/>
              </a:ext>
            </a:extLst>
          </p:cNvPr>
          <p:cNvSpPr txBox="1"/>
          <p:nvPr/>
        </p:nvSpPr>
        <p:spPr>
          <a:xfrm>
            <a:off x="7536423" y="3724889"/>
            <a:ext cx="31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3</a:t>
            </a:r>
            <a:endParaRPr lang="ko-KR" alt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99E6DE-16F2-D558-19BB-E80ED2938C1E}"/>
              </a:ext>
            </a:extLst>
          </p:cNvPr>
          <p:cNvSpPr txBox="1"/>
          <p:nvPr/>
        </p:nvSpPr>
        <p:spPr>
          <a:xfrm>
            <a:off x="7536422" y="4279633"/>
            <a:ext cx="31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2</a:t>
            </a:r>
            <a:endParaRPr lang="ko-KR" alt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072FFF-815F-3E5D-7772-EFD1F7231E13}"/>
              </a:ext>
            </a:extLst>
          </p:cNvPr>
          <p:cNvSpPr txBox="1"/>
          <p:nvPr/>
        </p:nvSpPr>
        <p:spPr>
          <a:xfrm>
            <a:off x="400051" y="5663042"/>
            <a:ext cx="11391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전략 원칙 </a:t>
            </a:r>
            <a:r>
              <a:rPr lang="en-US" altLang="ko-KR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안정형은 유지</a:t>
            </a:r>
            <a:r>
              <a:rPr lang="en-US" altLang="ko-KR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 · </a:t>
            </a:r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브랜드 강화 </a:t>
            </a:r>
            <a:r>
              <a:rPr lang="en-US" altLang="ko-KR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| </a:t>
            </a:r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수요 강세형은 등록 전환 관리 </a:t>
            </a:r>
            <a:r>
              <a:rPr lang="en-US" altLang="ko-KR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| </a:t>
            </a:r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보완 필요형은 모집단위별 진단</a:t>
            </a:r>
          </a:p>
        </p:txBody>
      </p:sp>
      <p:sp>
        <p:nvSpPr>
          <p:cNvPr id="6" name="text-xj9w7f">
            <a:extLst>
              <a:ext uri="{FF2B5EF4-FFF2-40B4-BE49-F238E27FC236}">
                <a16:creationId xmlns:a16="http://schemas.microsoft.com/office/drawing/2014/main" id="{F5ABCEFF-13D6-B23C-0FD2-2C814283D7A2}"/>
              </a:ext>
            </a:extLst>
          </p:cNvPr>
          <p:cNvSpPr>
            <a:spLocks noGrp="1"/>
          </p:cNvSpPr>
          <p:nvPr/>
        </p:nvSpPr>
        <p:spPr>
          <a:xfrm>
            <a:off x="7981950" y="4913758"/>
            <a:ext cx="3429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취업성과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기반 잠재형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8" name="rule-770-496">
            <a:extLst>
              <a:ext uri="{FF2B5EF4-FFF2-40B4-BE49-F238E27FC236}">
                <a16:creationId xmlns:a16="http://schemas.microsoft.com/office/drawing/2014/main" id="{1E94662D-C844-E8AE-0C25-28A55A5E3C8A}"/>
              </a:ext>
            </a:extLst>
          </p:cNvPr>
          <p:cNvSpPr>
            <a:spLocks noGrp="1"/>
          </p:cNvSpPr>
          <p:nvPr/>
        </p:nvSpPr>
        <p:spPr>
          <a:xfrm>
            <a:off x="7334250" y="5275708"/>
            <a:ext cx="40767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71CE69-3535-10F2-359C-E301FE65AE9C}"/>
              </a:ext>
            </a:extLst>
          </p:cNvPr>
          <p:cNvSpPr txBox="1"/>
          <p:nvPr/>
        </p:nvSpPr>
        <p:spPr>
          <a:xfrm>
            <a:off x="7536422" y="4830941"/>
            <a:ext cx="31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</a:t>
            </a:r>
            <a:endParaRPr lang="ko-KR" alt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C6EDDD7-8E66-559F-1894-FD9D0C5F9D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462" y="1791342"/>
            <a:ext cx="5889426" cy="3271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861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D092B4E7-3260-4AEC-AB47-66FF2DEE4458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ufixg4">
            <a:extLst>
              <a:ext uri="{FF2B5EF4-FFF2-40B4-BE49-F238E27FC236}">
                <a16:creationId xmlns:a16="http://schemas.microsoft.com/office/drawing/2014/main" id="{B419AA4B-F618-4CC2-B32D-7E60F850B6B4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08</a:t>
            </a:r>
          </a:p>
        </p:txBody>
      </p:sp>
      <p:sp>
        <p:nvSpPr>
          <p:cNvPr id="5" name="shape-wha0du">
            <a:extLst>
              <a:ext uri="{FF2B5EF4-FFF2-40B4-BE49-F238E27FC236}">
                <a16:creationId xmlns:a16="http://schemas.microsoft.com/office/drawing/2014/main" id="{D70EC935-1B0C-4505-8183-C912F7BC48B5}"/>
              </a:ext>
            </a:extLst>
          </p:cNvPr>
          <p:cNvSpPr>
            <a:spLocks noGrp="1"/>
          </p:cNvSpPr>
          <p:nvPr/>
        </p:nvSpPr>
        <p:spPr>
          <a:xfrm>
            <a:off x="400050" y="1562100"/>
            <a:ext cx="5410200" cy="33909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dxs402">
            <a:extLst>
              <a:ext uri="{FF2B5EF4-FFF2-40B4-BE49-F238E27FC236}">
                <a16:creationId xmlns:a16="http://schemas.microsoft.com/office/drawing/2014/main" id="{612FDE6A-1DAF-49F2-9EC5-9FC5D96F2378}"/>
              </a:ext>
            </a:extLst>
          </p:cNvPr>
          <p:cNvSpPr>
            <a:spLocks noGrp="1"/>
          </p:cNvSpPr>
          <p:nvPr/>
        </p:nvSpPr>
        <p:spPr>
          <a:xfrm>
            <a:off x="5981700" y="1562100"/>
            <a:ext cx="5810250" cy="33909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-mxpgke">
            <a:extLst>
              <a:ext uri="{FF2B5EF4-FFF2-40B4-BE49-F238E27FC236}">
                <a16:creationId xmlns:a16="http://schemas.microsoft.com/office/drawing/2014/main" id="{5630C766-9569-447C-A570-F848FAD950A3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/>
              <a:t>보고서</a:t>
            </a:r>
            <a:r>
              <a:rPr dirty="0"/>
              <a:t> </a:t>
            </a:r>
            <a:r>
              <a:rPr dirty="0" err="1"/>
              <a:t>그림</a:t>
            </a:r>
            <a:r>
              <a:rPr dirty="0"/>
              <a:t> 7–8 | </a:t>
            </a:r>
            <a:r>
              <a:rPr dirty="0" err="1"/>
              <a:t>표본</a:t>
            </a:r>
            <a:r>
              <a:rPr dirty="0"/>
              <a:t> N=66이므로 </a:t>
            </a:r>
            <a:r>
              <a:rPr dirty="0" err="1"/>
              <a:t>정밀</a:t>
            </a:r>
            <a:r>
              <a:rPr dirty="0"/>
              <a:t> </a:t>
            </a:r>
            <a:r>
              <a:rPr dirty="0" err="1"/>
              <a:t>예측보다</a:t>
            </a:r>
            <a:r>
              <a:rPr dirty="0"/>
              <a:t> </a:t>
            </a:r>
            <a:r>
              <a:rPr dirty="0" err="1"/>
              <a:t>주요</a:t>
            </a:r>
            <a:r>
              <a:rPr dirty="0"/>
              <a:t> </a:t>
            </a:r>
            <a:r>
              <a:rPr dirty="0" err="1"/>
              <a:t>요인</a:t>
            </a:r>
            <a:r>
              <a:rPr dirty="0"/>
              <a:t> </a:t>
            </a:r>
            <a:r>
              <a:rPr dirty="0" err="1"/>
              <a:t>탐색을</a:t>
            </a:r>
            <a:r>
              <a:rPr dirty="0"/>
              <a:t> </a:t>
            </a:r>
            <a:r>
              <a:rPr dirty="0" err="1"/>
              <a:t>위한</a:t>
            </a:r>
            <a:r>
              <a:rPr dirty="0"/>
              <a:t> </a:t>
            </a:r>
            <a:r>
              <a:rPr dirty="0" err="1"/>
              <a:t>기초</a:t>
            </a:r>
            <a:r>
              <a:rPr dirty="0"/>
              <a:t> </a:t>
            </a:r>
            <a:r>
              <a:rPr dirty="0" err="1"/>
              <a:t>모형으로</a:t>
            </a:r>
            <a:r>
              <a:rPr dirty="0"/>
              <a:t> </a:t>
            </a:r>
            <a:r>
              <a:rPr dirty="0" err="1"/>
              <a:t>해석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4D38BE-104A-FD81-A8C5-6A436F14196E}"/>
              </a:ext>
            </a:extLst>
          </p:cNvPr>
          <p:cNvSpPr txBox="1"/>
          <p:nvPr/>
        </p:nvSpPr>
        <p:spPr>
          <a:xfrm>
            <a:off x="353883" y="550575"/>
            <a:ext cx="80650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모형 평가는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데이터 분할 방식에 따라 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달라졌다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6" name="text-8wc195">
            <a:extLst>
              <a:ext uri="{FF2B5EF4-FFF2-40B4-BE49-F238E27FC236}">
                <a16:creationId xmlns:a16="http://schemas.microsoft.com/office/drawing/2014/main" id="{B20B57C5-54FD-55EB-C5AA-29BB1C237A47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FB06E1-7DC0-31AE-C449-53479AE218CB}"/>
              </a:ext>
            </a:extLst>
          </p:cNvPr>
          <p:cNvSpPr txBox="1"/>
          <p:nvPr/>
        </p:nvSpPr>
        <p:spPr>
          <a:xfrm>
            <a:off x="336758" y="5109746"/>
            <a:ext cx="23150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단일 테스트셋 </a:t>
            </a:r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선형회귀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34567D-ADBA-CDD8-E417-98A98515A6A2}"/>
              </a:ext>
            </a:extLst>
          </p:cNvPr>
          <p:cNvSpPr txBox="1"/>
          <p:nvPr/>
        </p:nvSpPr>
        <p:spPr>
          <a:xfrm>
            <a:off x="5981700" y="5109746"/>
            <a:ext cx="2504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랜덤포레스트</a:t>
            </a:r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변수 중요도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D9DF2C-05D5-AA6D-1E56-29C38D8E5066}"/>
              </a:ext>
            </a:extLst>
          </p:cNvPr>
          <p:cNvSpPr txBox="1"/>
          <p:nvPr/>
        </p:nvSpPr>
        <p:spPr>
          <a:xfrm>
            <a:off x="353883" y="5498098"/>
            <a:ext cx="406553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점이 대각선에 가까울수록 </a:t>
            </a:r>
            <a:r>
              <a:rPr lang="ko-KR" altLang="en-US" sz="1400" dirty="0" err="1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실제값과</a:t>
            </a:r>
            <a:r>
              <a:rPr lang="ko-KR" altLang="en-US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ko-KR" altLang="en-US" sz="1400" dirty="0" err="1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예측값이</a:t>
            </a:r>
            <a:r>
              <a:rPr lang="ko-KR" altLang="en-US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 비슷함</a:t>
            </a:r>
            <a:endParaRPr lang="en-US" altLang="ko-KR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endParaRPr lang="en-US" altLang="ko-KR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r>
              <a:rPr lang="en-US" altLang="ko-KR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MAE 2.016 · RMSE 2.399 · R²</a:t>
            </a:r>
            <a:r>
              <a:rPr lang="en-US" altLang="ko-KR" sz="1400" dirty="0"/>
              <a:t> </a:t>
            </a:r>
            <a:r>
              <a:rPr lang="en-US" altLang="ko-KR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0.582</a:t>
            </a:r>
            <a:endParaRPr lang="ko-KR" altLang="en-US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9DC4D5-4223-5FF6-9A37-7B6D34DC5815}"/>
              </a:ext>
            </a:extLst>
          </p:cNvPr>
          <p:cNvSpPr txBox="1"/>
          <p:nvPr/>
        </p:nvSpPr>
        <p:spPr>
          <a:xfrm>
            <a:off x="5981700" y="5500127"/>
            <a:ext cx="497924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변수 중요도 </a:t>
            </a:r>
            <a:r>
              <a:rPr lang="en-US" altLang="ko-KR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| </a:t>
            </a:r>
            <a:r>
              <a:rPr lang="ko-KR" altLang="en-US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막대가 길수록 예측에 상대적으로 많이 활용한 변수</a:t>
            </a:r>
            <a:endParaRPr lang="en-US" altLang="ko-KR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endParaRPr lang="en-US" altLang="ko-KR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r>
              <a:rPr lang="pt-BR" altLang="ko-KR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5-fold CV · MAE 2.000 · RMSE 2.995 · R² 0.411</a:t>
            </a:r>
            <a:endParaRPr lang="ko-KR" altLang="en-US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6199D76-E58D-78FF-AD64-DABE7DDF0B6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8108" y="1660449"/>
            <a:ext cx="3194202" cy="319420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EDD8CCA-F152-1AAB-84DA-F001C46BCA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5918" y="1712472"/>
            <a:ext cx="4761814" cy="309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29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D57A8321-D065-4F8D-B37B-1A423FE52780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bwxmdg">
            <a:extLst>
              <a:ext uri="{FF2B5EF4-FFF2-40B4-BE49-F238E27FC236}">
                <a16:creationId xmlns:a16="http://schemas.microsoft.com/office/drawing/2014/main" id="{AF462FD2-C0AF-4D9F-B1B1-0E613F440727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09</a:t>
            </a:r>
          </a:p>
        </p:txBody>
      </p:sp>
      <p:sp>
        <p:nvSpPr>
          <p:cNvPr id="5" name="shape-72scjy">
            <a:extLst>
              <a:ext uri="{FF2B5EF4-FFF2-40B4-BE49-F238E27FC236}">
                <a16:creationId xmlns:a16="http://schemas.microsoft.com/office/drawing/2014/main" id="{E5C5E393-EEC6-450C-A764-C57D69382E56}"/>
              </a:ext>
            </a:extLst>
          </p:cNvPr>
          <p:cNvSpPr>
            <a:spLocks noGrp="1"/>
          </p:cNvSpPr>
          <p:nvPr/>
        </p:nvSpPr>
        <p:spPr>
          <a:xfrm>
            <a:off x="400050" y="1562100"/>
            <a:ext cx="5562600" cy="36957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4hnz4l">
            <a:extLst>
              <a:ext uri="{FF2B5EF4-FFF2-40B4-BE49-F238E27FC236}">
                <a16:creationId xmlns:a16="http://schemas.microsoft.com/office/drawing/2014/main" id="{1449F64E-BE0B-4171-BEEE-D80AAAFBAFC4}"/>
              </a:ext>
            </a:extLst>
          </p:cNvPr>
          <p:cNvSpPr>
            <a:spLocks noGrp="1"/>
          </p:cNvSpPr>
          <p:nvPr/>
        </p:nvSpPr>
        <p:spPr>
          <a:xfrm>
            <a:off x="6153150" y="1562100"/>
            <a:ext cx="5638800" cy="36957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-osomtb">
            <a:extLst>
              <a:ext uri="{FF2B5EF4-FFF2-40B4-BE49-F238E27FC236}">
                <a16:creationId xmlns:a16="http://schemas.microsoft.com/office/drawing/2014/main" id="{B49371BB-D7E1-4903-9F32-6EBC2C3446C4}"/>
              </a:ext>
            </a:extLst>
          </p:cNvPr>
          <p:cNvSpPr>
            <a:spLocks noGrp="1"/>
          </p:cNvSpPr>
          <p:nvPr/>
        </p:nvSpPr>
        <p:spPr>
          <a:xfrm>
            <a:off x="400050" y="6000750"/>
            <a:ext cx="113919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대학·지역·설립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구분·연도·전략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유형을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한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체계에서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탐색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1" name="text-llbbil">
            <a:extLst>
              <a:ext uri="{FF2B5EF4-FFF2-40B4-BE49-F238E27FC236}">
                <a16:creationId xmlns:a16="http://schemas.microsoft.com/office/drawing/2014/main" id="{4FC6889A-1424-40FF-9F78-5AAC6898C455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보고서 그림 9–10 | Power BI 대시보드용 데이터셋 및 PBIX 산출물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E68E9-8C6A-1C44-F93D-00E31061D45E}"/>
              </a:ext>
            </a:extLst>
          </p:cNvPr>
          <p:cNvSpPr txBox="1"/>
          <p:nvPr/>
        </p:nvSpPr>
        <p:spPr>
          <a:xfrm>
            <a:off x="400050" y="5459998"/>
            <a:ext cx="1139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프로젝트 개요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/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 현황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/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지표 관계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/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전략 유형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/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예측모형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C78525-9873-3F03-6F08-7DE640EA7273}"/>
              </a:ext>
            </a:extLst>
          </p:cNvPr>
          <p:cNvSpPr txBox="1"/>
          <p:nvPr/>
        </p:nvSpPr>
        <p:spPr>
          <a:xfrm>
            <a:off x="353883" y="550575"/>
            <a:ext cx="761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 결과를 </a:t>
            </a:r>
            <a:r>
              <a:rPr lang="en-US" altLang="ko-KR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Power BI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대시보드로 연결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했다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6" name="text-8wc195">
            <a:extLst>
              <a:ext uri="{FF2B5EF4-FFF2-40B4-BE49-F238E27FC236}">
                <a16:creationId xmlns:a16="http://schemas.microsoft.com/office/drawing/2014/main" id="{D8C59D87-A077-9E46-4E59-E429FD71DC3F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753B2571-C735-7E6F-CF7B-1680A8F9CF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09" y="155986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1025" name="_x138274328">
            <a:extLst>
              <a:ext uri="{FF2B5EF4-FFF2-40B4-BE49-F238E27FC236}">
                <a16:creationId xmlns:a16="http://schemas.microsoft.com/office/drawing/2014/main" id="{8FF1B743-CC11-EA4E-B090-3FC66BF1D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09" y="1916112"/>
            <a:ext cx="5400675" cy="302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59630BBC-6212-30E7-6B37-D0FAB0FB82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530" y="1916112"/>
            <a:ext cx="5400040" cy="3025775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567893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-sp2ypb">
            <a:extLst>
              <a:ext uri="{FF2B5EF4-FFF2-40B4-BE49-F238E27FC236}">
                <a16:creationId xmlns:a16="http://schemas.microsoft.com/office/drawing/2014/main" id="{FF6E2B90-3C58-4A7A-93C9-7D520B833B73}"/>
              </a:ext>
            </a:extLst>
          </p:cNvPr>
          <p:cNvSpPr>
            <a:spLocks noGrp="1"/>
          </p:cNvSpPr>
          <p:nvPr/>
        </p:nvSpPr>
        <p:spPr>
          <a:xfrm>
            <a:off x="400050" y="304800"/>
            <a:ext cx="2476500" cy="247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SYNTHESIS</a:t>
            </a:r>
          </a:p>
        </p:txBody>
      </p:sp>
      <p:sp>
        <p:nvSpPr>
          <p:cNvPr id="3" name="rule-42-300">
            <a:extLst>
              <a:ext uri="{FF2B5EF4-FFF2-40B4-BE49-F238E27FC236}">
                <a16:creationId xmlns:a16="http://schemas.microsoft.com/office/drawing/2014/main" id="{675A2F16-C094-4D2E-9C68-23DE93071D4F}"/>
              </a:ext>
            </a:extLst>
          </p:cNvPr>
          <p:cNvSpPr>
            <a:spLocks noGrp="1"/>
          </p:cNvSpPr>
          <p:nvPr/>
        </p:nvSpPr>
        <p:spPr>
          <a:xfrm>
            <a:off x="400050" y="2857500"/>
            <a:ext cx="113919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s5ydml">
            <a:extLst>
              <a:ext uri="{FF2B5EF4-FFF2-40B4-BE49-F238E27FC236}">
                <a16:creationId xmlns:a16="http://schemas.microsoft.com/office/drawing/2014/main" id="{35596445-4E72-42DF-AED9-66D1FB60EA61}"/>
              </a:ext>
            </a:extLst>
          </p:cNvPr>
          <p:cNvSpPr>
            <a:spLocks noGrp="1"/>
          </p:cNvSpPr>
          <p:nvPr/>
        </p:nvSpPr>
        <p:spPr>
          <a:xfrm>
            <a:off x="400050" y="3257550"/>
            <a:ext cx="571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01</a:t>
            </a:r>
          </a:p>
        </p:txBody>
      </p:sp>
      <p:sp>
        <p:nvSpPr>
          <p:cNvPr id="6" name="text-ryj4ba">
            <a:extLst>
              <a:ext uri="{FF2B5EF4-FFF2-40B4-BE49-F238E27FC236}">
                <a16:creationId xmlns:a16="http://schemas.microsoft.com/office/drawing/2014/main" id="{DCA6FF18-9246-4B30-87FE-546AD725F07F}"/>
              </a:ext>
            </a:extLst>
          </p:cNvPr>
          <p:cNvSpPr>
            <a:spLocks noGrp="1"/>
          </p:cNvSpPr>
          <p:nvPr/>
        </p:nvSpPr>
        <p:spPr>
          <a:xfrm>
            <a:off x="400050" y="4267200"/>
            <a:ext cx="3238500" cy="742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지원자 규모 등 입시 수요 지표를 지속적으로 모니터링</a:t>
            </a:r>
          </a:p>
        </p:txBody>
      </p:sp>
      <p:sp>
        <p:nvSpPr>
          <p:cNvPr id="7" name="text-ptfm1h">
            <a:extLst>
              <a:ext uri="{FF2B5EF4-FFF2-40B4-BE49-F238E27FC236}">
                <a16:creationId xmlns:a16="http://schemas.microsoft.com/office/drawing/2014/main" id="{C19CE35C-9ED8-4494-9EED-780F8803C1E1}"/>
              </a:ext>
            </a:extLst>
          </p:cNvPr>
          <p:cNvSpPr>
            <a:spLocks noGrp="1"/>
          </p:cNvSpPr>
          <p:nvPr/>
        </p:nvSpPr>
        <p:spPr>
          <a:xfrm>
            <a:off x="4191000" y="3257550"/>
            <a:ext cx="571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02</a:t>
            </a:r>
          </a:p>
        </p:txBody>
      </p:sp>
      <p:sp>
        <p:nvSpPr>
          <p:cNvPr id="9" name="text-86u0oa">
            <a:extLst>
              <a:ext uri="{FF2B5EF4-FFF2-40B4-BE49-F238E27FC236}">
                <a16:creationId xmlns:a16="http://schemas.microsoft.com/office/drawing/2014/main" id="{A4833A08-A1A6-45E4-93AF-BDDE7DD94A7D}"/>
              </a:ext>
            </a:extLst>
          </p:cNvPr>
          <p:cNvSpPr>
            <a:spLocks noGrp="1"/>
          </p:cNvSpPr>
          <p:nvPr/>
        </p:nvSpPr>
        <p:spPr>
          <a:xfrm>
            <a:off x="4191000" y="4267200"/>
            <a:ext cx="3238500" cy="742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구조에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맞춰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유지·전환·보완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전략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구분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0" name="text-7qdy4s">
            <a:extLst>
              <a:ext uri="{FF2B5EF4-FFF2-40B4-BE49-F238E27FC236}">
                <a16:creationId xmlns:a16="http://schemas.microsoft.com/office/drawing/2014/main" id="{5402C47D-ADCF-450E-B46A-20FED8318445}"/>
              </a:ext>
            </a:extLst>
          </p:cNvPr>
          <p:cNvSpPr>
            <a:spLocks noGrp="1"/>
          </p:cNvSpPr>
          <p:nvPr/>
        </p:nvSpPr>
        <p:spPr>
          <a:xfrm>
            <a:off x="7981950" y="3257550"/>
            <a:ext cx="571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03</a:t>
            </a:r>
          </a:p>
        </p:txBody>
      </p:sp>
      <p:sp>
        <p:nvSpPr>
          <p:cNvPr id="12" name="text-8jyn5b">
            <a:extLst>
              <a:ext uri="{FF2B5EF4-FFF2-40B4-BE49-F238E27FC236}">
                <a16:creationId xmlns:a16="http://schemas.microsoft.com/office/drawing/2014/main" id="{2F43F265-9BFC-43C2-8640-820F3535C1DA}"/>
              </a:ext>
            </a:extLst>
          </p:cNvPr>
          <p:cNvSpPr>
            <a:spLocks noGrp="1"/>
          </p:cNvSpPr>
          <p:nvPr/>
        </p:nvSpPr>
        <p:spPr>
          <a:xfrm>
            <a:off x="7981950" y="4267200"/>
            <a:ext cx="3238500" cy="742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전국·장기·모집단위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데이터와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학생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수준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변수를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추가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3" name="shape-zife5p">
            <a:extLst>
              <a:ext uri="{FF2B5EF4-FFF2-40B4-BE49-F238E27FC236}">
                <a16:creationId xmlns:a16="http://schemas.microsoft.com/office/drawing/2014/main" id="{A0822E41-B50A-48B0-B7C1-1EB1580C0227}"/>
              </a:ext>
            </a:extLst>
          </p:cNvPr>
          <p:cNvSpPr>
            <a:spLocks noGrp="1"/>
          </p:cNvSpPr>
          <p:nvPr/>
        </p:nvSpPr>
        <p:spPr>
          <a:xfrm>
            <a:off x="400050" y="5334000"/>
            <a:ext cx="11391900" cy="66675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-jqff8n">
            <a:extLst>
              <a:ext uri="{FF2B5EF4-FFF2-40B4-BE49-F238E27FC236}">
                <a16:creationId xmlns:a16="http://schemas.microsoft.com/office/drawing/2014/main" id="{81054BF6-E627-4E18-9A56-1A71136651B9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781050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github.com/Jaewoong237/education-admission-data-project</a:t>
            </a:r>
          </a:p>
        </p:txBody>
      </p:sp>
      <p:sp>
        <p:nvSpPr>
          <p:cNvPr id="16" name="text-v65hn6">
            <a:extLst>
              <a:ext uri="{FF2B5EF4-FFF2-40B4-BE49-F238E27FC236}">
                <a16:creationId xmlns:a16="http://schemas.microsoft.com/office/drawing/2014/main" id="{22095ABB-522B-447D-A5E0-68DB3826A586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E9E552-2357-34A5-9D50-5D0C5D43C121}"/>
              </a:ext>
            </a:extLst>
          </p:cNvPr>
          <p:cNvSpPr txBox="1"/>
          <p:nvPr/>
        </p:nvSpPr>
        <p:spPr>
          <a:xfrm>
            <a:off x="400050" y="5459998"/>
            <a:ext cx="1139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한계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 22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 대학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3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개년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단위 집계자료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–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결과는 인과 관계가 아닌 기초적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탐색적 분석으로 해석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DBABE5-803A-9BD7-0EE9-FB7B9150C332}"/>
              </a:ext>
            </a:extLst>
          </p:cNvPr>
          <p:cNvSpPr txBox="1"/>
          <p:nvPr/>
        </p:nvSpPr>
        <p:spPr>
          <a:xfrm>
            <a:off x="357509" y="1209393"/>
            <a:ext cx="1076769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충원율은 </a:t>
            </a:r>
            <a:r>
              <a:rPr lang="ko-KR" altLang="en-US" sz="40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취업성과 하나가 아니라</a:t>
            </a:r>
            <a:endParaRPr lang="en-US" altLang="ko-KR" sz="4000" dirty="0">
              <a:solidFill>
                <a:srgbClr val="FF000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r>
              <a:rPr lang="ko-KR" altLang="en-US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입시 수요 </a:t>
            </a:r>
            <a:r>
              <a:rPr lang="en-US" altLang="ko-KR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성과 </a:t>
            </a:r>
            <a:r>
              <a:rPr lang="en-US" altLang="ko-KR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특성을 함께 </a:t>
            </a:r>
            <a:r>
              <a:rPr lang="ko-KR" altLang="en-US" sz="4000" dirty="0" err="1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봐야</a:t>
            </a:r>
            <a:r>
              <a:rPr lang="ko-KR" altLang="en-US" sz="4000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한다</a:t>
            </a:r>
            <a:endParaRPr lang="ko-KR" altLang="en-US" sz="40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035899-9717-28F0-BC9E-06AC94135D74}"/>
              </a:ext>
            </a:extLst>
          </p:cNvPr>
          <p:cNvSpPr txBox="1"/>
          <p:nvPr/>
        </p:nvSpPr>
        <p:spPr>
          <a:xfrm>
            <a:off x="314886" y="363916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수요 지표 관리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9E0306-43B2-4898-08AA-53FD61550699}"/>
              </a:ext>
            </a:extLst>
          </p:cNvPr>
          <p:cNvSpPr txBox="1"/>
          <p:nvPr/>
        </p:nvSpPr>
        <p:spPr>
          <a:xfrm>
            <a:off x="4069788" y="3613348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유형별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462454-2D7F-69D7-62D5-6FA754004CAA}"/>
              </a:ext>
            </a:extLst>
          </p:cNvPr>
          <p:cNvSpPr txBox="1"/>
          <p:nvPr/>
        </p:nvSpPr>
        <p:spPr>
          <a:xfrm>
            <a:off x="7880402" y="3596446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연구 확장</a:t>
            </a:r>
          </a:p>
        </p:txBody>
      </p:sp>
    </p:spTree>
    <p:extLst>
      <p:ext uri="{BB962C8B-B14F-4D97-AF65-F5344CB8AC3E}">
        <p14:creationId xmlns:p14="http://schemas.microsoft.com/office/powerpoint/2010/main" val="197334111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692</Words>
  <Application>Microsoft Office PowerPoint</Application>
  <PresentationFormat>와이드스크린</PresentationFormat>
  <Paragraphs>136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티웨이_날다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주재웅</cp:lastModifiedBy>
  <cp:revision>6</cp:revision>
  <dcterms:created xsi:type="dcterms:W3CDTF">2026-07-16T05:02:39Z</dcterms:created>
  <dcterms:modified xsi:type="dcterms:W3CDTF">2026-08-19T07:18:41Z</dcterms:modified>
  <cp:version/>
</cp:coreProperties>
</file>